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Montserrat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brand. One line: 'We're the team that does the whole inside of the building, and we self-deliver it.' Don't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idea. Lead with the headline, then the payoff: one contract, one team, one number. This is what separates us from a trade sub.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pain they already know — interface risk. Point at the right-hand contrast: with EDM the interfaces sit inside our scope, off their critical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ones. Stress 'self-delivered' and 'directly employed' — that's the real differentiator versus subbies who sublet on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quickly. Emphasise fire &amp; acoustic to the certified detail — that's what gets queried at handover.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numbers. £20.31m across 11 schemes, four sectors, since 1986. Be upfront it's the E&amp;D heritage — same people and systems. Honesty wins diligence.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markets, one standard. Be straight: track record spans three jurisdictions; we mobilise into a market only when we can hold the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 proof. We sit under Tier-1s, not against them. Offer package-specific references for their prequal.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to their world: programme certainty, self-performed, one point of responsibility. These are the lines that keep us on the tender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faces to the accountability. Names and roles — these are the people who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send drawings and programme, straight answer same day. Hand over a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4206240" cy="10331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Capability &amp; credentials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41248" y="32004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Specialist interior fit-out and drywall — self-delivered.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68680" y="4069080"/>
            <a:ext cx="7406640" cy="0"/>
          </a:xfrm>
          <a:prstGeom prst="line">
            <a:avLst/>
          </a:prstGeom>
          <a:noFill/>
          <a:ln w="12700">
            <a:solidFill>
              <a:srgbClr val="E4E6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2062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UAE · IRELAND · UK · AUSTRALIA</a:t>
            </a:r>
            <a:pPr indent="0" marL="0">
              <a:buNone/>
            </a:pPr>
            <a:r>
              <a:rPr lang="en-US" sz="1050" spc="200" kern="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ESTABLISHED 1986      edmholdings.ae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accountable team</a:t>
            </a:r>
            <a:endParaRPr lang="en-US" sz="3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the whole interior.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self-deliver the trades that make up the inside of a building. That means one contract to manage, one team on site, and one name to call when programme, quality or accountability is on the line.</a:t>
            </a:r>
            <a:endParaRPr lang="en-US" sz="1500" dirty="0"/>
          </a:p>
        </p:txBody>
      </p:sp>
      <p:pic>
        <p:nvPicPr>
          <p:cNvPr id="5" name="Image 0" descr="assets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17320"/>
            <a:ext cx="1874520" cy="24389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PACKAGES SLIP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 we take off your plate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fit-out packages are split across a string of trade subcontractors. Every split is an interface — and every interface is where programme, quality and accountability tend to slip.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00600" y="1691640"/>
            <a:ext cx="35204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1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USUAL WAY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trades, five contracts, five points of failure — and the gaps in between are yours to manage.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3200400"/>
            <a:ext cx="35204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3383280"/>
            <a:ext cx="457200" cy="457200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2644" y="3506724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23560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EDM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23560" y="36758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package, one team, one standard. The interfaces sit inside our scope, not on your critical path.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point of responsibility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039112"/>
            <a:ext cx="566928" cy="566928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063" y="219218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29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contract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28800" y="238658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Self-delivered scope under a single subcontract — no chain to chase.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78308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65192" y="2039112"/>
            <a:ext cx="566928" cy="566928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263" y="219218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2029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team on site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715000" y="238658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Directly employed and managed labour, not sublet on the day.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38328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78992" y="3639312"/>
            <a:ext cx="566928" cy="566928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63" y="3792383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630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standard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828800" y="398678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same detail and finish runs from first wall to final handover.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338328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65192" y="3639312"/>
            <a:ext cx="566928" cy="566928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263" y="3792383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630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number to call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715000" y="398678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real person who owns the package answers — same working day.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self-deliver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243230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0704" y="1700784"/>
            <a:ext cx="493776" cy="493776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024" y="1834104"/>
            <a:ext cx="227137" cy="227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Drywall partitions &amp; ceilings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60704" y="27614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Partitions, shaft walls, MF and suspended ceilings, dry lining.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93008" y="1463040"/>
            <a:ext cx="243230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30752" y="1700784"/>
            <a:ext cx="493776" cy="493776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72" y="1834104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 &amp; acoustic-rated systems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30752" y="27614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to the certified detail and documented for inspection.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63056" y="1463040"/>
            <a:ext cx="243230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700784"/>
            <a:ext cx="493776" cy="493776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20" y="1834104"/>
            <a:ext cx="227137" cy="2271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Timber wall &amp; ceiling panels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0" y="27614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Veneered and slatted finishes, acoustic-backed where needed.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22960" y="3291840"/>
            <a:ext cx="243230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60704" y="3529584"/>
            <a:ext cx="493776" cy="493776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024" y="3662904"/>
            <a:ext cx="227137" cy="2271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60704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Aluminium &amp; glazing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60704" y="45902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and double-glazed systems, framed or frameless.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493008" y="3291840"/>
            <a:ext cx="243230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730752" y="3529584"/>
            <a:ext cx="493776" cy="493776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072" y="3662904"/>
            <a:ext cx="227137" cy="2271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30752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Painting &amp; decoration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730752" y="45902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Commercial-grade paint and decorative finishes, handover-ready.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63056" y="3291840"/>
            <a:ext cx="243230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0800" y="3529584"/>
            <a:ext cx="493776" cy="493776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20" y="3662904"/>
            <a:ext cx="227137" cy="22713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0080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Joinery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400800" y="45902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Reception counters, tea points, storage and feature joinery.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RECORD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record that survives diligence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8013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218541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£20.31m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" y="274320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delivered, across 11 schemes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52344" y="1874520"/>
            <a:ext cx="18013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79776" y="218541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862072" y="274320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schemes completed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1874520"/>
            <a:ext cx="18013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18541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791456" y="274320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11112" y="1874520"/>
            <a:ext cx="18013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38544" y="218541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1986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720840" y="274320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established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Sectors:  </a:t>
            </a:r>
            <a:pPr indent="0" marL="0">
              <a:buNone/>
            </a:pPr>
            <a:r>
              <a:rPr lang="en-US" sz="13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Residential   ·   Workplace   ·   Hotels &amp; leisure   ·   Education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1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record delivered under our E&amp;D Drywall heritage — the same people, systems and standards now operating as EDM Holdings.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markets, one standard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8013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1036" y="2112264"/>
            <a:ext cx="585216" cy="585216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9044" y="2270272"/>
            <a:ext cx="269199" cy="2691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UAE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52344" y="1874520"/>
            <a:ext cx="18013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60420" y="2112264"/>
            <a:ext cx="585216" cy="585216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428" y="2270272"/>
            <a:ext cx="269199" cy="2691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3784" y="2788920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Ireland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681728" y="1874520"/>
            <a:ext cx="18013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289804" y="2112264"/>
            <a:ext cx="585216" cy="585216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812" y="2270272"/>
            <a:ext cx="269199" cy="2691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73168" y="2788920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UK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611112" y="1874520"/>
            <a:ext cx="180136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219188" y="2112264"/>
            <a:ext cx="585216" cy="585216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196" y="2270272"/>
            <a:ext cx="269199" cy="26919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2552" y="2788920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Australia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22960" y="35204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operate across four markets. Our delivered track record spans three jurisdictions — and we mobilise into a new market only when we can hold the same standard there.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WORK WITH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package partner to Tier-1 contractors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6276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work as a specialist interior package partner to leading main contractors, including: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75588" y="2551176"/>
            <a:ext cx="512064" cy="512064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3845" y="2689433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118104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Gilbert-Ash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359152" y="233172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11780" y="2551176"/>
            <a:ext cx="512064" cy="512064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037" y="2689433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32304" y="3118104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Graham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895344" y="233172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47972" y="2551176"/>
            <a:ext cx="512064" cy="512064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29" y="2689433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68496" y="3118104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John Sisk &amp; Son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31536" y="233172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884164" y="2551176"/>
            <a:ext cx="512064" cy="512064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421" y="2689433"/>
            <a:ext cx="235549" cy="23554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04688" y="3118104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McLaughlin &amp; Harvey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67728" y="233172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20356" y="2551176"/>
            <a:ext cx="512064" cy="512064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613" y="2689433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0880" y="3118104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Farrans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822960" y="3840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1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 available on request, package-by-package, for prequalification.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WE STAY ON THE 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main contractors get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481328"/>
            <a:ext cx="475488" cy="475488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2" y="1609710"/>
            <a:ext cx="218724" cy="218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point of responsibility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43400" y="14630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company owns the interior from first wall to final snag — no blame-shifting.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8680" y="2130552"/>
            <a:ext cx="475488" cy="475488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62" y="2258934"/>
            <a:ext cx="218724" cy="21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122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Self-performed, not sublet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343400" y="21122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Directly employed labour, so the standard doesn't change hands mid-package.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68680" y="2779776"/>
            <a:ext cx="475488" cy="475488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62" y="2908158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27614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Programme certainty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343400" y="276148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plan and sequence to your dates, flag risk early, and hold the line on the date that matters.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68680" y="3429000"/>
            <a:ext cx="475488" cy="475488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062" y="3557382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410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to a tested detail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343400" y="341071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 and acoustic systems built to the certified detail and documented for inspection.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68680" y="4078224"/>
            <a:ext cx="475488" cy="475488"/>
          </a:xfrm>
          <a:prstGeom prst="ellipse">
            <a:avLst/>
          </a:prstGeom>
          <a:solidFill>
            <a:srgbClr val="08381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062" y="4206606"/>
            <a:ext cx="218724" cy="2187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08760" y="4059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real person answers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343400" y="405993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Priced honestly off the drawings, and a straight answer the same working day.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PEOPLE ACCOUNTABLE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Leadership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80136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2164" y="2084832"/>
            <a:ext cx="822960" cy="822960"/>
          </a:xfrm>
          <a:prstGeom prst="ellipse">
            <a:avLst/>
          </a:prstGeom>
          <a:solidFill>
            <a:srgbClr val="083819"/>
          </a:solidFill>
          <a:ln/>
        </p:spPr>
      </p:sp>
      <p:sp>
        <p:nvSpPr>
          <p:cNvPr id="6" name="Text 4"/>
          <p:cNvSpPr/>
          <p:nvPr/>
        </p:nvSpPr>
        <p:spPr>
          <a:xfrm>
            <a:off x="1312164" y="2084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999232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Eddie Duffy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329184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Chairman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52344" y="1828800"/>
            <a:ext cx="180136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1548" y="2084832"/>
            <a:ext cx="822960" cy="822960"/>
          </a:xfrm>
          <a:prstGeom prst="ellipse">
            <a:avLst/>
          </a:prstGeom>
          <a:solidFill>
            <a:srgbClr val="083819"/>
          </a:solidFill>
          <a:ln/>
        </p:spPr>
      </p:sp>
      <p:sp>
        <p:nvSpPr>
          <p:cNvPr id="11" name="Text 9"/>
          <p:cNvSpPr/>
          <p:nvPr/>
        </p:nvSpPr>
        <p:spPr>
          <a:xfrm>
            <a:off x="3241548" y="2084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825496" y="2999232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Damien Meenan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25496" y="329184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Chief Executive Officer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81728" y="1828800"/>
            <a:ext cx="180136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70932" y="2084832"/>
            <a:ext cx="822960" cy="822960"/>
          </a:xfrm>
          <a:prstGeom prst="ellipse">
            <a:avLst/>
          </a:prstGeom>
          <a:solidFill>
            <a:srgbClr val="083819"/>
          </a:solidFill>
          <a:ln/>
        </p:spPr>
      </p:sp>
      <p:sp>
        <p:nvSpPr>
          <p:cNvPr id="16" name="Text 14"/>
          <p:cNvSpPr/>
          <p:nvPr/>
        </p:nvSpPr>
        <p:spPr>
          <a:xfrm>
            <a:off x="5170932" y="2084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54880" y="2999232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Christopher Simon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29184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Chief Operating Officer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11112" y="1828800"/>
            <a:ext cx="180136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6E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00316" y="2084832"/>
            <a:ext cx="822960" cy="822960"/>
          </a:xfrm>
          <a:prstGeom prst="ellipse">
            <a:avLst/>
          </a:prstGeom>
          <a:solidFill>
            <a:srgbClr val="083819"/>
          </a:solidFill>
          <a:ln/>
        </p:spPr>
      </p:sp>
      <p:sp>
        <p:nvSpPr>
          <p:cNvPr id="21" name="Text 19"/>
          <p:cNvSpPr/>
          <p:nvPr/>
        </p:nvSpPr>
        <p:spPr>
          <a:xfrm>
            <a:off x="7100316" y="2084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KB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684264" y="2999232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Kenny Buchanan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84264" y="3291840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Director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talk about your package.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 us the drawings and the programme. You'll get a straight answer — and an honest price — the same working day.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68680" y="3383280"/>
            <a:ext cx="7406640" cy="0"/>
          </a:xfrm>
          <a:prstGeom prst="line">
            <a:avLst/>
          </a:prstGeom>
          <a:noFill/>
          <a:ln w="12700">
            <a:solidFill>
              <a:srgbClr val="E4E6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3611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8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enquiries@edmholdings.ae</a:t>
            </a:r>
            <a:pPr indent="0" marL="0">
              <a:buNone/>
            </a:pPr>
            <a:r>
              <a:rPr lang="en-US" sz="1300" dirty="0">
                <a:solidFill>
                  <a:srgbClr val="1321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+971 (0) 58 601 2021        edmholdings.ae</a:t>
            </a:r>
            <a:endParaRPr lang="en-US" sz="1300" dirty="0"/>
          </a:p>
        </p:txBody>
      </p:sp>
      <p:pic>
        <p:nvPicPr>
          <p:cNvPr id="6" name="Image 0" descr="assets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14800"/>
            <a:ext cx="2468880" cy="6064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UAE · IRELAND · UK · AUSTRALIA  ·  EST. 1986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EDM Holdings — Capability &amp; Credentials</dc:title>
  <dc:subject>PptxGenJS Presentation</dc:subject>
  <dc:creator>EDM Holdings</dc:creator>
  <cp:lastModifiedBy>EDM Holdings</cp:lastModifiedBy>
  <cp:revision>1</cp:revision>
  <dcterms:created xsi:type="dcterms:W3CDTF">2026-07-02T13:43:52Z</dcterms:created>
  <dcterms:modified xsi:type="dcterms:W3CDTF">2026-07-02T13:43:52Z</dcterms:modified>
</cp:coreProperties>
</file>