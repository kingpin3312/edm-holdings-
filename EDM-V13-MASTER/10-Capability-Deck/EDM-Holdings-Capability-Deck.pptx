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Montserrat"/>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brand. One line: 'We're the team that does the whole inside of the building, and we self-deliver it.' Don't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Lead with the headline, then the payoff: one contract, one team, one number. This is what separates us from a trade sub.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pain they already know — interface risk. Point at the right-hand contrast: with EDM the interfaces sit inside our scope, off their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ones. Stress 'self-delivered' and 'directly employed' — that's the real differentiator versus subbies who sublet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quickly. Emphasise fire &amp; acoustic to the certified detail — that's what gets queried at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£20.31m across 11 schemes, four sectors, since 1986. Be upfront it's the E&amp;D heritage — same people and systems. Honesty wins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markets, one standard. Be straight: track record spans three jurisdictions; we mobilise into a market only when we can hold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proof. We sit under Tier-1s, not against them. Offer package-specific references for their prequal.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 their world: programme certainty, self-performed, one point of responsibility. These are the lines that keep us on the tender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faces to the accountability. Names and roles — these are the people who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send drawings and programme, straight answer same day. Hand over a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logo_primary.png">    </p:cNvPr>
          <p:cNvPicPr>
            <a:picLocks noChangeAspect="1"/>
          </p:cNvPicPr>
          <p:nvPr/>
        </p:nvPicPr>
        <p:blipFill>
          <a:blip r:embed="rId1"/>
          <a:stretch>
            <a:fillRect/>
          </a:stretch>
        </p:blipFill>
        <p:spPr>
          <a:xfrm>
            <a:off x="822960" y="1234440"/>
            <a:ext cx="4206240" cy="1033158"/>
          </a:xfrm>
          <a:prstGeom prst="rect">
            <a:avLst/>
          </a:prstGeom>
        </p:spPr>
      </p:pic>
      <p:sp>
        <p:nvSpPr>
          <p:cNvPr id="3" name="Text 0"/>
          <p:cNvSpPr/>
          <p:nvPr/>
        </p:nvSpPr>
        <p:spPr>
          <a:xfrm>
            <a:off x="841248" y="2514600"/>
            <a:ext cx="7315200" cy="640080"/>
          </a:xfrm>
          <a:prstGeom prst="rect">
            <a:avLst/>
          </a:prstGeom>
          <a:noFill/>
          <a:ln/>
        </p:spPr>
        <p:txBody>
          <a:bodyPr wrap="square" lIns="0" tIns="0" rIns="0" bIns="0" rtlCol="0" anchor="ctr"/>
          <a:lstStyle/>
          <a:p>
            <a:pPr indent="0" marL="0">
              <a:buNone/>
            </a:pPr>
            <a:r>
              <a:rPr lang="en-US" sz="3000" b="1" dirty="0">
                <a:solidFill>
                  <a:srgbClr val="13211A"/>
                </a:solidFill>
                <a:latin typeface="Montserrat" pitchFamily="34" charset="0"/>
                <a:ea typeface="Montserrat" pitchFamily="34" charset="-122"/>
                <a:cs typeface="Montserrat" pitchFamily="34" charset="-120"/>
              </a:rPr>
              <a:t>Capability &amp; credentials</a:t>
            </a:r>
            <a:endParaRPr lang="en-US" sz="3000" dirty="0"/>
          </a:p>
        </p:txBody>
      </p:sp>
      <p:sp>
        <p:nvSpPr>
          <p:cNvPr id="4" name="Text 1"/>
          <p:cNvSpPr/>
          <p:nvPr/>
        </p:nvSpPr>
        <p:spPr>
          <a:xfrm>
            <a:off x="841248" y="3200400"/>
            <a:ext cx="7498080" cy="365760"/>
          </a:xfrm>
          <a:prstGeom prst="rect">
            <a:avLst/>
          </a:prstGeom>
          <a:noFill/>
          <a:ln/>
        </p:spPr>
        <p:txBody>
          <a:bodyPr wrap="square" lIns="0" tIns="0" rIns="0" bIns="0" rtlCol="0" anchor="ctr"/>
          <a:lstStyle/>
          <a:p>
            <a:pPr indent="0" marL="0">
              <a:buNone/>
            </a:pPr>
            <a:r>
              <a:rPr lang="en-US" sz="1400" dirty="0">
                <a:solidFill>
                  <a:srgbClr val="5C6F66"/>
                </a:solidFill>
                <a:latin typeface="Montserrat" pitchFamily="34" charset="0"/>
                <a:ea typeface="Montserrat" pitchFamily="34" charset="-122"/>
                <a:cs typeface="Montserrat" pitchFamily="34" charset="-120"/>
              </a:rPr>
              <a:t>Specialist interior fit-out and drywall — self-delivered.</a:t>
            </a:r>
            <a:endParaRPr lang="en-US" sz="1400" dirty="0"/>
          </a:p>
        </p:txBody>
      </p:sp>
      <p:sp>
        <p:nvSpPr>
          <p:cNvPr id="5" name="Shape 2"/>
          <p:cNvSpPr/>
          <p:nvPr/>
        </p:nvSpPr>
        <p:spPr>
          <a:xfrm>
            <a:off x="868680" y="4069080"/>
            <a:ext cx="7406640" cy="0"/>
          </a:xfrm>
          <a:prstGeom prst="line">
            <a:avLst/>
          </a:prstGeom>
          <a:noFill/>
          <a:ln w="12700">
            <a:solidFill>
              <a:srgbClr val="E4E6E0"/>
            </a:solidFill>
            <a:prstDash val="solid"/>
          </a:ln>
        </p:spPr>
      </p:sp>
      <p:sp>
        <p:nvSpPr>
          <p:cNvPr id="6" name="Text 3"/>
          <p:cNvSpPr/>
          <p:nvPr/>
        </p:nvSpPr>
        <p:spPr>
          <a:xfrm>
            <a:off x="841248" y="4206240"/>
            <a:ext cx="7589520" cy="320040"/>
          </a:xfrm>
          <a:prstGeom prst="rect">
            <a:avLst/>
          </a:prstGeom>
          <a:noFill/>
          <a:ln/>
        </p:spPr>
        <p:txBody>
          <a:bodyPr wrap="square" lIns="0" tIns="0" rIns="0" bIns="0" rtlCol="0" anchor="ctr"/>
          <a:lstStyle/>
          <a:p>
            <a:pPr indent="0" marL="0">
              <a:buNone/>
            </a:pPr>
            <a:r>
              <a:rPr lang="en-US" sz="1050" b="1" spc="200" kern="0" dirty="0">
                <a:solidFill>
                  <a:srgbClr val="083819"/>
                </a:solidFill>
                <a:latin typeface="Montserrat" pitchFamily="34" charset="0"/>
                <a:ea typeface="Montserrat" pitchFamily="34" charset="-122"/>
                <a:cs typeface="Montserrat" pitchFamily="34" charset="-120"/>
              </a:rPr>
              <a:t>DUBAI · UNITED ARAB EMIRATES</a:t>
            </a:r>
            <a:pPr indent="0" marL="0">
              <a:buNone/>
            </a:pPr>
            <a:r>
              <a:rPr lang="en-US" sz="1050" spc="200" kern="0" dirty="0">
                <a:solidFill>
                  <a:srgbClr val="5C6F66"/>
                </a:solidFill>
                <a:latin typeface="Montserrat" pitchFamily="34" charset="0"/>
                <a:ea typeface="Montserrat" pitchFamily="34" charset="-122"/>
                <a:cs typeface="Montserrat" pitchFamily="34" charset="-120"/>
              </a:rPr>
              <a:t>      IN THIS TRADE SINCE 1986      edmholdings.ae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THE PROPOSITION</a:t>
            </a:r>
            <a:endParaRPr lang="en-US" sz="1100" dirty="0"/>
          </a:p>
        </p:txBody>
      </p:sp>
      <p:sp>
        <p:nvSpPr>
          <p:cNvPr id="3" name="Text 1"/>
          <p:cNvSpPr/>
          <p:nvPr/>
        </p:nvSpPr>
        <p:spPr>
          <a:xfrm>
            <a:off x="822960" y="1051560"/>
            <a:ext cx="5577840" cy="1645920"/>
          </a:xfrm>
          <a:prstGeom prst="rect">
            <a:avLst/>
          </a:prstGeom>
          <a:noFill/>
          <a:ln/>
        </p:spPr>
        <p:txBody>
          <a:bodyPr wrap="square" lIns="0" tIns="0" rIns="0" bIns="0" rtlCol="0" anchor="ctr"/>
          <a:lstStyle/>
          <a:p>
            <a:pPr indent="0" marL="0">
              <a:lnSpc>
                <a:spcPct val="102000"/>
              </a:lnSpc>
              <a:buNone/>
            </a:pPr>
            <a:r>
              <a:rPr lang="en-US" sz="3300" b="1" dirty="0">
                <a:solidFill>
                  <a:srgbClr val="13211A"/>
                </a:solidFill>
                <a:latin typeface="Montserrat" pitchFamily="34" charset="0"/>
                <a:ea typeface="Montserrat" pitchFamily="34" charset="-122"/>
                <a:cs typeface="Montserrat" pitchFamily="34" charset="-120"/>
              </a:rPr>
              <a:t>One accountable team</a:t>
            </a:r>
            <a:endParaRPr lang="en-US" sz="3300" dirty="0"/>
          </a:p>
          <a:p>
            <a:pPr indent="0" marL="0">
              <a:lnSpc>
                <a:spcPct val="102000"/>
              </a:lnSpc>
              <a:buNone/>
            </a:pPr>
            <a:r>
              <a:rPr lang="en-US" sz="3300" b="1" dirty="0">
                <a:solidFill>
                  <a:srgbClr val="13211A"/>
                </a:solidFill>
                <a:latin typeface="Montserrat" pitchFamily="34" charset="0"/>
                <a:ea typeface="Montserrat" pitchFamily="34" charset="-122"/>
                <a:cs typeface="Montserrat" pitchFamily="34" charset="-120"/>
              </a:rPr>
              <a:t>for the whole interior.</a:t>
            </a:r>
            <a:endParaRPr lang="en-US" sz="3300" dirty="0"/>
          </a:p>
        </p:txBody>
      </p:sp>
      <p:sp>
        <p:nvSpPr>
          <p:cNvPr id="4" name="Text 2"/>
          <p:cNvSpPr/>
          <p:nvPr/>
        </p:nvSpPr>
        <p:spPr>
          <a:xfrm>
            <a:off x="822960" y="2926080"/>
            <a:ext cx="5394960" cy="1463040"/>
          </a:xfrm>
          <a:prstGeom prst="rect">
            <a:avLst/>
          </a:prstGeom>
          <a:noFill/>
          <a:ln/>
        </p:spPr>
        <p:txBody>
          <a:bodyPr wrap="square" lIns="0" tIns="0" rIns="0" bIns="0" rtlCol="0" anchor="ctr"/>
          <a:lstStyle/>
          <a:p>
            <a:pPr indent="0" marL="0">
              <a:lnSpc>
                <a:spcPct val="125000"/>
              </a:lnSpc>
              <a:buNone/>
            </a:pPr>
            <a:r>
              <a:rPr lang="en-US" sz="1500" dirty="0">
                <a:solidFill>
                  <a:srgbClr val="5C6F66"/>
                </a:solidFill>
                <a:latin typeface="Montserrat" pitchFamily="34" charset="0"/>
                <a:ea typeface="Montserrat" pitchFamily="34" charset="-122"/>
                <a:cs typeface="Montserrat" pitchFamily="34" charset="-120"/>
              </a:rPr>
              <a:t>We self-deliver the trades that make up the inside of a building. That means one contract to manage, one team on site, and one name to call when programme, quality or accountability is on the line.</a:t>
            </a:r>
            <a:endParaRPr lang="en-US" sz="1500" dirty="0"/>
          </a:p>
        </p:txBody>
      </p:sp>
      <p:pic>
        <p:nvPicPr>
          <p:cNvPr id="5" name="Image 0" descr="assets/cube.png">    </p:cNvPr>
          <p:cNvPicPr>
            <a:picLocks noChangeAspect="1"/>
          </p:cNvPicPr>
          <p:nvPr/>
        </p:nvPicPr>
        <p:blipFill>
          <a:blip r:embed="rId1"/>
          <a:stretch>
            <a:fillRect/>
          </a:stretch>
        </p:blipFill>
        <p:spPr>
          <a:xfrm>
            <a:off x="6583680" y="1417320"/>
            <a:ext cx="1874520" cy="24389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WHY PACKAGES SLIP</a:t>
            </a:r>
            <a:endParaRPr lang="en-US" sz="1100" dirty="0"/>
          </a:p>
        </p:txBody>
      </p:sp>
      <p:sp>
        <p:nvSpPr>
          <p:cNvPr id="3" name="Text 1"/>
          <p:cNvSpPr/>
          <p:nvPr/>
        </p:nvSpPr>
        <p:spPr>
          <a:xfrm>
            <a:off x="822960" y="1005840"/>
            <a:ext cx="7498080" cy="54864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The problem we take off your plate</a:t>
            </a:r>
            <a:endParaRPr lang="en-US" sz="2600" dirty="0"/>
          </a:p>
        </p:txBody>
      </p:sp>
      <p:sp>
        <p:nvSpPr>
          <p:cNvPr id="4" name="Text 2"/>
          <p:cNvSpPr/>
          <p:nvPr/>
        </p:nvSpPr>
        <p:spPr>
          <a:xfrm>
            <a:off x="822960" y="1691640"/>
            <a:ext cx="3657600" cy="2194560"/>
          </a:xfrm>
          <a:prstGeom prst="rect">
            <a:avLst/>
          </a:prstGeom>
          <a:noFill/>
          <a:ln/>
        </p:spPr>
        <p:txBody>
          <a:bodyPr wrap="square" lIns="0" tIns="0" rIns="0" bIns="0" rtlCol="0" anchor="ctr"/>
          <a:lstStyle/>
          <a:p>
            <a:pPr indent="0" marL="0">
              <a:lnSpc>
                <a:spcPct val="130000"/>
              </a:lnSpc>
              <a:buNone/>
            </a:pPr>
            <a:r>
              <a:rPr lang="en-US" sz="1500" dirty="0">
                <a:solidFill>
                  <a:srgbClr val="5C6F66"/>
                </a:solidFill>
                <a:latin typeface="Montserrat" pitchFamily="34" charset="0"/>
                <a:ea typeface="Montserrat" pitchFamily="34" charset="-122"/>
                <a:cs typeface="Montserrat" pitchFamily="34" charset="-120"/>
              </a:rPr>
              <a:t>Most fit-out packages are split across a string of trade subcontractors. Every split is an interface — and every interface is where programme, quality and accountability tend to slip.</a:t>
            </a:r>
            <a:endParaRPr lang="en-US" sz="1500" dirty="0"/>
          </a:p>
        </p:txBody>
      </p:sp>
      <p:sp>
        <p:nvSpPr>
          <p:cNvPr id="5" name="Shape 3"/>
          <p:cNvSpPr/>
          <p:nvPr/>
        </p:nvSpPr>
        <p:spPr>
          <a:xfrm>
            <a:off x="4800600" y="1691640"/>
            <a:ext cx="352044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5029200" y="1828800"/>
            <a:ext cx="3108960" cy="274320"/>
          </a:xfrm>
          <a:prstGeom prst="rect">
            <a:avLst/>
          </a:prstGeom>
          <a:noFill/>
          <a:ln/>
        </p:spPr>
        <p:txBody>
          <a:bodyPr wrap="square" lIns="0" tIns="0" rIns="0" bIns="0" rtlCol="0" anchor="ctr"/>
          <a:lstStyle/>
          <a:p>
            <a:pPr indent="0" marL="0">
              <a:buNone/>
            </a:pPr>
            <a:r>
              <a:rPr lang="en-US" sz="1000" b="1" spc="200" kern="0" dirty="0">
                <a:solidFill>
                  <a:srgbClr val="7C8181"/>
                </a:solidFill>
                <a:latin typeface="Montserrat" pitchFamily="34" charset="0"/>
                <a:ea typeface="Montserrat" pitchFamily="34" charset="-122"/>
                <a:cs typeface="Montserrat" pitchFamily="34" charset="-120"/>
              </a:rPr>
              <a:t>THE USUAL WAY</a:t>
            </a:r>
            <a:endParaRPr lang="en-US" sz="1000" dirty="0"/>
          </a:p>
        </p:txBody>
      </p:sp>
      <p:sp>
        <p:nvSpPr>
          <p:cNvPr id="7" name="Text 5"/>
          <p:cNvSpPr/>
          <p:nvPr/>
        </p:nvSpPr>
        <p:spPr>
          <a:xfrm>
            <a:off x="5029200" y="2148840"/>
            <a:ext cx="3108960" cy="777240"/>
          </a:xfrm>
          <a:prstGeom prst="rect">
            <a:avLst/>
          </a:prstGeom>
          <a:noFill/>
          <a:ln/>
        </p:spPr>
        <p:txBody>
          <a:bodyPr wrap="square" lIns="0" tIns="0" rIns="0" bIns="0" rtlCol="0" anchor="ctr"/>
          <a:lstStyle/>
          <a:p>
            <a:pPr indent="0" marL="0">
              <a:lnSpc>
                <a:spcPct val="120000"/>
              </a:lnSpc>
              <a:buNone/>
            </a:pPr>
            <a:r>
              <a:rPr lang="en-US" sz="1250" dirty="0">
                <a:solidFill>
                  <a:srgbClr val="5C6F66"/>
                </a:solidFill>
                <a:latin typeface="Montserrat" pitchFamily="34" charset="0"/>
                <a:ea typeface="Montserrat" pitchFamily="34" charset="-122"/>
                <a:cs typeface="Montserrat" pitchFamily="34" charset="-120"/>
              </a:rPr>
              <a:t>Five trades, five contracts, five points of failure — and the gaps in between are yours to manage.</a:t>
            </a:r>
            <a:endParaRPr lang="en-US" sz="1250" dirty="0"/>
          </a:p>
        </p:txBody>
      </p:sp>
      <p:sp>
        <p:nvSpPr>
          <p:cNvPr id="8" name="Shape 6"/>
          <p:cNvSpPr/>
          <p:nvPr/>
        </p:nvSpPr>
        <p:spPr>
          <a:xfrm>
            <a:off x="4800600" y="3200400"/>
            <a:ext cx="352044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5029200" y="3383280"/>
            <a:ext cx="457200" cy="457200"/>
          </a:xfrm>
          <a:prstGeom prst="ellipse">
            <a:avLst/>
          </a:prstGeom>
          <a:solidFill>
            <a:srgbClr val="083819"/>
          </a:solidFill>
          <a:ln/>
        </p:spPr>
      </p:sp>
      <p:pic>
        <p:nvPicPr>
          <p:cNvPr id="10" name="Image 0" descr="preencoded.png">    </p:cNvPr>
          <p:cNvPicPr>
            <a:picLocks noChangeAspect="1"/>
          </p:cNvPicPr>
          <p:nvPr/>
        </p:nvPicPr>
        <p:blipFill>
          <a:blip r:embed="rId1"/>
          <a:stretch>
            <a:fillRect/>
          </a:stretch>
        </p:blipFill>
        <p:spPr>
          <a:xfrm>
            <a:off x="5152644" y="3506724"/>
            <a:ext cx="210312" cy="210312"/>
          </a:xfrm>
          <a:prstGeom prst="rect">
            <a:avLst/>
          </a:prstGeom>
        </p:spPr>
      </p:pic>
      <p:sp>
        <p:nvSpPr>
          <p:cNvPr id="11" name="Text 8"/>
          <p:cNvSpPr/>
          <p:nvPr/>
        </p:nvSpPr>
        <p:spPr>
          <a:xfrm>
            <a:off x="5623560" y="3401568"/>
            <a:ext cx="2560320" cy="274320"/>
          </a:xfrm>
          <a:prstGeom prst="rect">
            <a:avLst/>
          </a:prstGeom>
          <a:noFill/>
          <a:ln/>
        </p:spPr>
        <p:txBody>
          <a:bodyPr wrap="square" lIns="0" tIns="0" rIns="0" bIns="0" rtlCol="0" anchor="ctr"/>
          <a:lstStyle/>
          <a:p>
            <a:pPr indent="0" marL="0">
              <a:buNone/>
            </a:pPr>
            <a:r>
              <a:rPr lang="en-US" sz="1000" b="1" spc="200" kern="0" dirty="0">
                <a:solidFill>
                  <a:srgbClr val="083819"/>
                </a:solidFill>
                <a:latin typeface="Montserrat" pitchFamily="34" charset="0"/>
                <a:ea typeface="Montserrat" pitchFamily="34" charset="-122"/>
                <a:cs typeface="Montserrat" pitchFamily="34" charset="-120"/>
              </a:rPr>
              <a:t>WITH EDM</a:t>
            </a:r>
            <a:endParaRPr lang="en-US" sz="1000" dirty="0"/>
          </a:p>
        </p:txBody>
      </p:sp>
      <p:sp>
        <p:nvSpPr>
          <p:cNvPr id="12" name="Text 9"/>
          <p:cNvSpPr/>
          <p:nvPr/>
        </p:nvSpPr>
        <p:spPr>
          <a:xfrm>
            <a:off x="5623560" y="3675888"/>
            <a:ext cx="2560320" cy="777240"/>
          </a:xfrm>
          <a:prstGeom prst="rect">
            <a:avLst/>
          </a:prstGeom>
          <a:noFill/>
          <a:ln/>
        </p:spPr>
        <p:txBody>
          <a:bodyPr wrap="square" lIns="0" tIns="0" rIns="0" bIns="0" rtlCol="0" anchor="ctr"/>
          <a:lstStyle/>
          <a:p>
            <a:pPr indent="0" marL="0">
              <a:lnSpc>
                <a:spcPct val="120000"/>
              </a:lnSpc>
              <a:buNone/>
            </a:pPr>
            <a:r>
              <a:rPr lang="en-US" sz="1250" dirty="0">
                <a:solidFill>
                  <a:srgbClr val="13211A"/>
                </a:solidFill>
                <a:latin typeface="Montserrat" pitchFamily="34" charset="0"/>
                <a:ea typeface="Montserrat" pitchFamily="34" charset="-122"/>
                <a:cs typeface="Montserrat" pitchFamily="34" charset="-120"/>
              </a:rPr>
              <a:t>One package, one team, one standard. The interfaces sit inside our scope, not on your critical path.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THE MODEL</a:t>
            </a:r>
            <a:endParaRPr lang="en-US" sz="1100" dirty="0"/>
          </a:p>
        </p:txBody>
      </p:sp>
      <p:sp>
        <p:nvSpPr>
          <p:cNvPr id="3" name="Text 1"/>
          <p:cNvSpPr/>
          <p:nvPr/>
        </p:nvSpPr>
        <p:spPr>
          <a:xfrm>
            <a:off x="822960" y="1005840"/>
            <a:ext cx="7498080" cy="54864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One point of responsibility</a:t>
            </a:r>
            <a:endParaRPr lang="en-US" sz="2600" dirty="0"/>
          </a:p>
        </p:txBody>
      </p:sp>
      <p:sp>
        <p:nvSpPr>
          <p:cNvPr id="4" name="Shape 2"/>
          <p:cNvSpPr/>
          <p:nvPr/>
        </p:nvSpPr>
        <p:spPr>
          <a:xfrm>
            <a:off x="822960" y="1783080"/>
            <a:ext cx="361188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1078992" y="2039112"/>
            <a:ext cx="566928" cy="566928"/>
          </a:xfrm>
          <a:prstGeom prst="ellipse">
            <a:avLst/>
          </a:prstGeom>
          <a:solidFill>
            <a:srgbClr val="083819"/>
          </a:solidFill>
          <a:ln/>
        </p:spPr>
      </p:sp>
      <p:pic>
        <p:nvPicPr>
          <p:cNvPr id="6" name="Image 0" descr="preencoded.png">    </p:cNvPr>
          <p:cNvPicPr>
            <a:picLocks noChangeAspect="1"/>
          </p:cNvPicPr>
          <p:nvPr/>
        </p:nvPicPr>
        <p:blipFill>
          <a:blip r:embed="rId1"/>
          <a:stretch>
            <a:fillRect/>
          </a:stretch>
        </p:blipFill>
        <p:spPr>
          <a:xfrm>
            <a:off x="1232063" y="2192183"/>
            <a:ext cx="260787" cy="260787"/>
          </a:xfrm>
          <a:prstGeom prst="rect">
            <a:avLst/>
          </a:prstGeom>
        </p:spPr>
      </p:pic>
      <p:sp>
        <p:nvSpPr>
          <p:cNvPr id="7" name="Text 4"/>
          <p:cNvSpPr/>
          <p:nvPr/>
        </p:nvSpPr>
        <p:spPr>
          <a:xfrm>
            <a:off x="1828800" y="2029968"/>
            <a:ext cx="2423160" cy="365760"/>
          </a:xfrm>
          <a:prstGeom prst="rect">
            <a:avLst/>
          </a:prstGeom>
          <a:noFill/>
          <a:ln/>
        </p:spPr>
        <p:txBody>
          <a:bodyPr wrap="square" lIns="0" tIns="0" rIns="0" bIns="0" rtlCol="0" anchor="ctr"/>
          <a:lstStyle/>
          <a:p>
            <a:pPr indent="0" marL="0">
              <a:buNone/>
            </a:pPr>
            <a:r>
              <a:rPr lang="en-US" sz="1550" b="1" dirty="0">
                <a:solidFill>
                  <a:srgbClr val="13211A"/>
                </a:solidFill>
                <a:latin typeface="Montserrat" pitchFamily="34" charset="0"/>
                <a:ea typeface="Montserrat" pitchFamily="34" charset="-122"/>
                <a:cs typeface="Montserrat" pitchFamily="34" charset="-120"/>
              </a:rPr>
              <a:t>One contract</a:t>
            </a:r>
            <a:endParaRPr lang="en-US" sz="1550" dirty="0"/>
          </a:p>
        </p:txBody>
      </p:sp>
      <p:sp>
        <p:nvSpPr>
          <p:cNvPr id="8" name="Text 5"/>
          <p:cNvSpPr/>
          <p:nvPr/>
        </p:nvSpPr>
        <p:spPr>
          <a:xfrm>
            <a:off x="1828800" y="2386584"/>
            <a:ext cx="2423160" cy="594360"/>
          </a:xfrm>
          <a:prstGeom prst="rect">
            <a:avLst/>
          </a:prstGeom>
          <a:noFill/>
          <a:ln/>
        </p:spPr>
        <p:txBody>
          <a:bodyPr wrap="square" lIns="0" tIns="0" rIns="0" bIns="0" rtlCol="0" anchor="ctr"/>
          <a:lstStyle/>
          <a:p>
            <a:pPr indent="0" marL="0">
              <a:lnSpc>
                <a:spcPct val="118000"/>
              </a:lnSpc>
              <a:buNone/>
            </a:pPr>
            <a:r>
              <a:rPr lang="en-US" sz="1200" dirty="0">
                <a:solidFill>
                  <a:srgbClr val="5C6F66"/>
                </a:solidFill>
                <a:latin typeface="Montserrat" pitchFamily="34" charset="0"/>
                <a:ea typeface="Montserrat" pitchFamily="34" charset="-122"/>
                <a:cs typeface="Montserrat" pitchFamily="34" charset="-120"/>
              </a:rPr>
              <a:t>Self-delivered scope under a single subcontract — no chain to chase.</a:t>
            </a:r>
            <a:endParaRPr lang="en-US" sz="1200" dirty="0"/>
          </a:p>
        </p:txBody>
      </p:sp>
      <p:sp>
        <p:nvSpPr>
          <p:cNvPr id="9" name="Shape 6"/>
          <p:cNvSpPr/>
          <p:nvPr/>
        </p:nvSpPr>
        <p:spPr>
          <a:xfrm>
            <a:off x="4709160" y="1783080"/>
            <a:ext cx="361188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0" name="Shape 7"/>
          <p:cNvSpPr/>
          <p:nvPr/>
        </p:nvSpPr>
        <p:spPr>
          <a:xfrm>
            <a:off x="4965192" y="2039112"/>
            <a:ext cx="566928" cy="566928"/>
          </a:xfrm>
          <a:prstGeom prst="ellipse">
            <a:avLst/>
          </a:prstGeom>
          <a:solidFill>
            <a:srgbClr val="083819"/>
          </a:solidFill>
          <a:ln/>
        </p:spPr>
      </p:sp>
      <p:pic>
        <p:nvPicPr>
          <p:cNvPr id="11" name="Image 1" descr="preencoded.png">    </p:cNvPr>
          <p:cNvPicPr>
            <a:picLocks noChangeAspect="1"/>
          </p:cNvPicPr>
          <p:nvPr/>
        </p:nvPicPr>
        <p:blipFill>
          <a:blip r:embed="rId2"/>
          <a:stretch>
            <a:fillRect/>
          </a:stretch>
        </p:blipFill>
        <p:spPr>
          <a:xfrm>
            <a:off x="5118263" y="2192183"/>
            <a:ext cx="260787" cy="260787"/>
          </a:xfrm>
          <a:prstGeom prst="rect">
            <a:avLst/>
          </a:prstGeom>
        </p:spPr>
      </p:pic>
      <p:sp>
        <p:nvSpPr>
          <p:cNvPr id="12" name="Text 8"/>
          <p:cNvSpPr/>
          <p:nvPr/>
        </p:nvSpPr>
        <p:spPr>
          <a:xfrm>
            <a:off x="5715000" y="2029968"/>
            <a:ext cx="2423160" cy="365760"/>
          </a:xfrm>
          <a:prstGeom prst="rect">
            <a:avLst/>
          </a:prstGeom>
          <a:noFill/>
          <a:ln/>
        </p:spPr>
        <p:txBody>
          <a:bodyPr wrap="square" lIns="0" tIns="0" rIns="0" bIns="0" rtlCol="0" anchor="ctr"/>
          <a:lstStyle/>
          <a:p>
            <a:pPr indent="0" marL="0">
              <a:buNone/>
            </a:pPr>
            <a:r>
              <a:rPr lang="en-US" sz="1550" b="1" dirty="0">
                <a:solidFill>
                  <a:srgbClr val="13211A"/>
                </a:solidFill>
                <a:latin typeface="Montserrat" pitchFamily="34" charset="0"/>
                <a:ea typeface="Montserrat" pitchFamily="34" charset="-122"/>
                <a:cs typeface="Montserrat" pitchFamily="34" charset="-120"/>
              </a:rPr>
              <a:t>One team on site</a:t>
            </a:r>
            <a:endParaRPr lang="en-US" sz="1550" dirty="0"/>
          </a:p>
        </p:txBody>
      </p:sp>
      <p:sp>
        <p:nvSpPr>
          <p:cNvPr id="13" name="Text 9"/>
          <p:cNvSpPr/>
          <p:nvPr/>
        </p:nvSpPr>
        <p:spPr>
          <a:xfrm>
            <a:off x="5715000" y="2386584"/>
            <a:ext cx="2423160" cy="594360"/>
          </a:xfrm>
          <a:prstGeom prst="rect">
            <a:avLst/>
          </a:prstGeom>
          <a:noFill/>
          <a:ln/>
        </p:spPr>
        <p:txBody>
          <a:bodyPr wrap="square" lIns="0" tIns="0" rIns="0" bIns="0" rtlCol="0" anchor="ctr"/>
          <a:lstStyle/>
          <a:p>
            <a:pPr indent="0" marL="0">
              <a:lnSpc>
                <a:spcPct val="118000"/>
              </a:lnSpc>
              <a:buNone/>
            </a:pPr>
            <a:r>
              <a:rPr lang="en-US" sz="1200" dirty="0">
                <a:solidFill>
                  <a:srgbClr val="5C6F66"/>
                </a:solidFill>
                <a:latin typeface="Montserrat" pitchFamily="34" charset="0"/>
                <a:ea typeface="Montserrat" pitchFamily="34" charset="-122"/>
                <a:cs typeface="Montserrat" pitchFamily="34" charset="-120"/>
              </a:rPr>
              <a:t>Directly employed and managed labour, on our own payroll.</a:t>
            </a:r>
            <a:endParaRPr lang="en-US" sz="1200" dirty="0"/>
          </a:p>
        </p:txBody>
      </p:sp>
      <p:sp>
        <p:nvSpPr>
          <p:cNvPr id="14" name="Shape 10"/>
          <p:cNvSpPr/>
          <p:nvPr/>
        </p:nvSpPr>
        <p:spPr>
          <a:xfrm>
            <a:off x="822960" y="3383280"/>
            <a:ext cx="361188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5" name="Shape 11"/>
          <p:cNvSpPr/>
          <p:nvPr/>
        </p:nvSpPr>
        <p:spPr>
          <a:xfrm>
            <a:off x="1078992" y="3639312"/>
            <a:ext cx="566928" cy="566928"/>
          </a:xfrm>
          <a:prstGeom prst="ellipse">
            <a:avLst/>
          </a:prstGeom>
          <a:solidFill>
            <a:srgbClr val="083819"/>
          </a:solidFill>
          <a:ln/>
        </p:spPr>
      </p:sp>
      <p:pic>
        <p:nvPicPr>
          <p:cNvPr id="16" name="Image 2" descr="preencoded.png">    </p:cNvPr>
          <p:cNvPicPr>
            <a:picLocks noChangeAspect="1"/>
          </p:cNvPicPr>
          <p:nvPr/>
        </p:nvPicPr>
        <p:blipFill>
          <a:blip r:embed="rId3"/>
          <a:stretch>
            <a:fillRect/>
          </a:stretch>
        </p:blipFill>
        <p:spPr>
          <a:xfrm>
            <a:off x="1232063" y="3792383"/>
            <a:ext cx="260787" cy="260787"/>
          </a:xfrm>
          <a:prstGeom prst="rect">
            <a:avLst/>
          </a:prstGeom>
        </p:spPr>
      </p:pic>
      <p:sp>
        <p:nvSpPr>
          <p:cNvPr id="17" name="Text 12"/>
          <p:cNvSpPr/>
          <p:nvPr/>
        </p:nvSpPr>
        <p:spPr>
          <a:xfrm>
            <a:off x="1828800" y="3630168"/>
            <a:ext cx="2423160" cy="365760"/>
          </a:xfrm>
          <a:prstGeom prst="rect">
            <a:avLst/>
          </a:prstGeom>
          <a:noFill/>
          <a:ln/>
        </p:spPr>
        <p:txBody>
          <a:bodyPr wrap="square" lIns="0" tIns="0" rIns="0" bIns="0" rtlCol="0" anchor="ctr"/>
          <a:lstStyle/>
          <a:p>
            <a:pPr indent="0" marL="0">
              <a:buNone/>
            </a:pPr>
            <a:r>
              <a:rPr lang="en-US" sz="1550" b="1" dirty="0">
                <a:solidFill>
                  <a:srgbClr val="13211A"/>
                </a:solidFill>
                <a:latin typeface="Montserrat" pitchFamily="34" charset="0"/>
                <a:ea typeface="Montserrat" pitchFamily="34" charset="-122"/>
                <a:cs typeface="Montserrat" pitchFamily="34" charset="-120"/>
              </a:rPr>
              <a:t>One standard</a:t>
            </a:r>
            <a:endParaRPr lang="en-US" sz="1550" dirty="0"/>
          </a:p>
        </p:txBody>
      </p:sp>
      <p:sp>
        <p:nvSpPr>
          <p:cNvPr id="18" name="Text 13"/>
          <p:cNvSpPr/>
          <p:nvPr/>
        </p:nvSpPr>
        <p:spPr>
          <a:xfrm>
            <a:off x="1828800" y="3986784"/>
            <a:ext cx="2423160" cy="594360"/>
          </a:xfrm>
          <a:prstGeom prst="rect">
            <a:avLst/>
          </a:prstGeom>
          <a:noFill/>
          <a:ln/>
        </p:spPr>
        <p:txBody>
          <a:bodyPr wrap="square" lIns="0" tIns="0" rIns="0" bIns="0" rtlCol="0" anchor="ctr"/>
          <a:lstStyle/>
          <a:p>
            <a:pPr indent="0" marL="0">
              <a:lnSpc>
                <a:spcPct val="118000"/>
              </a:lnSpc>
              <a:buNone/>
            </a:pPr>
            <a:r>
              <a:rPr lang="en-US" sz="1200" dirty="0">
                <a:solidFill>
                  <a:srgbClr val="5C6F66"/>
                </a:solidFill>
                <a:latin typeface="Montserrat" pitchFamily="34" charset="0"/>
                <a:ea typeface="Montserrat" pitchFamily="34" charset="-122"/>
                <a:cs typeface="Montserrat" pitchFamily="34" charset="-120"/>
              </a:rPr>
              <a:t>The same detail and finish runs from first wall to final handover.</a:t>
            </a:r>
            <a:endParaRPr lang="en-US" sz="1200" dirty="0"/>
          </a:p>
        </p:txBody>
      </p:sp>
      <p:sp>
        <p:nvSpPr>
          <p:cNvPr id="19" name="Shape 14"/>
          <p:cNvSpPr/>
          <p:nvPr/>
        </p:nvSpPr>
        <p:spPr>
          <a:xfrm>
            <a:off x="4709160" y="3383280"/>
            <a:ext cx="3611880" cy="1325880"/>
          </a:xfrm>
          <a:prstGeom prst="roundRect">
            <a:avLst>
              <a:gd name="adj" fmla="val 4138"/>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20" name="Shape 15"/>
          <p:cNvSpPr/>
          <p:nvPr/>
        </p:nvSpPr>
        <p:spPr>
          <a:xfrm>
            <a:off x="4965192" y="3639312"/>
            <a:ext cx="566928" cy="566928"/>
          </a:xfrm>
          <a:prstGeom prst="ellipse">
            <a:avLst/>
          </a:prstGeom>
          <a:solidFill>
            <a:srgbClr val="083819"/>
          </a:solidFill>
          <a:ln/>
        </p:spPr>
      </p:sp>
      <p:pic>
        <p:nvPicPr>
          <p:cNvPr id="21" name="Image 3" descr="preencoded.png">    </p:cNvPr>
          <p:cNvPicPr>
            <a:picLocks noChangeAspect="1"/>
          </p:cNvPicPr>
          <p:nvPr/>
        </p:nvPicPr>
        <p:blipFill>
          <a:blip r:embed="rId4"/>
          <a:stretch>
            <a:fillRect/>
          </a:stretch>
        </p:blipFill>
        <p:spPr>
          <a:xfrm>
            <a:off x="5118263" y="3792383"/>
            <a:ext cx="260787" cy="260787"/>
          </a:xfrm>
          <a:prstGeom prst="rect">
            <a:avLst/>
          </a:prstGeom>
        </p:spPr>
      </p:pic>
      <p:sp>
        <p:nvSpPr>
          <p:cNvPr id="22" name="Text 16"/>
          <p:cNvSpPr/>
          <p:nvPr/>
        </p:nvSpPr>
        <p:spPr>
          <a:xfrm>
            <a:off x="5715000" y="3630168"/>
            <a:ext cx="2423160" cy="365760"/>
          </a:xfrm>
          <a:prstGeom prst="rect">
            <a:avLst/>
          </a:prstGeom>
          <a:noFill/>
          <a:ln/>
        </p:spPr>
        <p:txBody>
          <a:bodyPr wrap="square" lIns="0" tIns="0" rIns="0" bIns="0" rtlCol="0" anchor="ctr"/>
          <a:lstStyle/>
          <a:p>
            <a:pPr indent="0" marL="0">
              <a:buNone/>
            </a:pPr>
            <a:r>
              <a:rPr lang="en-US" sz="1550" b="1" dirty="0">
                <a:solidFill>
                  <a:srgbClr val="13211A"/>
                </a:solidFill>
                <a:latin typeface="Montserrat" pitchFamily="34" charset="0"/>
                <a:ea typeface="Montserrat" pitchFamily="34" charset="-122"/>
                <a:cs typeface="Montserrat" pitchFamily="34" charset="-120"/>
              </a:rPr>
              <a:t>One number to call</a:t>
            </a:r>
            <a:endParaRPr lang="en-US" sz="1550" dirty="0"/>
          </a:p>
        </p:txBody>
      </p:sp>
      <p:sp>
        <p:nvSpPr>
          <p:cNvPr id="23" name="Text 17"/>
          <p:cNvSpPr/>
          <p:nvPr/>
        </p:nvSpPr>
        <p:spPr>
          <a:xfrm>
            <a:off x="5715000" y="3986784"/>
            <a:ext cx="2423160" cy="594360"/>
          </a:xfrm>
          <a:prstGeom prst="rect">
            <a:avLst/>
          </a:prstGeom>
          <a:noFill/>
          <a:ln/>
        </p:spPr>
        <p:txBody>
          <a:bodyPr wrap="square" lIns="0" tIns="0" rIns="0" bIns="0" rtlCol="0" anchor="ctr"/>
          <a:lstStyle/>
          <a:p>
            <a:pPr indent="0" marL="0">
              <a:lnSpc>
                <a:spcPct val="118000"/>
              </a:lnSpc>
              <a:buNone/>
            </a:pPr>
            <a:r>
              <a:rPr lang="en-US" sz="1200" dirty="0">
                <a:solidFill>
                  <a:srgbClr val="5C6F66"/>
                </a:solidFill>
                <a:latin typeface="Montserrat" pitchFamily="34" charset="0"/>
                <a:ea typeface="Montserrat" pitchFamily="34" charset="-122"/>
                <a:cs typeface="Montserrat" pitchFamily="34" charset="-120"/>
              </a:rPr>
              <a:t>A real person who owns the package answers — same working 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SCOPE</a:t>
            </a:r>
            <a:endParaRPr lang="en-US" sz="1100" dirty="0"/>
          </a:p>
        </p:txBody>
      </p:sp>
      <p:sp>
        <p:nvSpPr>
          <p:cNvPr id="3" name="Text 1"/>
          <p:cNvSpPr/>
          <p:nvPr/>
        </p:nvSpPr>
        <p:spPr>
          <a:xfrm>
            <a:off x="822960" y="841248"/>
            <a:ext cx="7498080" cy="50292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What we self-deliver</a:t>
            </a:r>
            <a:endParaRPr lang="en-US" sz="2600" dirty="0"/>
          </a:p>
        </p:txBody>
      </p:sp>
      <p:sp>
        <p:nvSpPr>
          <p:cNvPr id="4" name="Shape 2"/>
          <p:cNvSpPr/>
          <p:nvPr/>
        </p:nvSpPr>
        <p:spPr>
          <a:xfrm>
            <a:off x="822960" y="14630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1060704" y="1700784"/>
            <a:ext cx="493776" cy="493776"/>
          </a:xfrm>
          <a:prstGeom prst="ellipse">
            <a:avLst/>
          </a:prstGeom>
          <a:solidFill>
            <a:srgbClr val="083819"/>
          </a:solidFill>
          <a:ln/>
        </p:spPr>
      </p:sp>
      <p:pic>
        <p:nvPicPr>
          <p:cNvPr id="6" name="Image 0" descr="preencoded.png">    </p:cNvPr>
          <p:cNvPicPr>
            <a:picLocks noChangeAspect="1"/>
          </p:cNvPicPr>
          <p:nvPr/>
        </p:nvPicPr>
        <p:blipFill>
          <a:blip r:embed="rId1"/>
          <a:stretch>
            <a:fillRect/>
          </a:stretch>
        </p:blipFill>
        <p:spPr>
          <a:xfrm>
            <a:off x="1194024" y="1834104"/>
            <a:ext cx="227137" cy="227137"/>
          </a:xfrm>
          <a:prstGeom prst="rect">
            <a:avLst/>
          </a:prstGeom>
        </p:spPr>
      </p:pic>
      <p:sp>
        <p:nvSpPr>
          <p:cNvPr id="7" name="Text 4"/>
          <p:cNvSpPr/>
          <p:nvPr/>
        </p:nvSpPr>
        <p:spPr>
          <a:xfrm>
            <a:off x="1060704" y="22860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Drywall partitions &amp; ceilings</a:t>
            </a:r>
            <a:endParaRPr lang="en-US" sz="1200" dirty="0"/>
          </a:p>
        </p:txBody>
      </p:sp>
      <p:sp>
        <p:nvSpPr>
          <p:cNvPr id="8" name="Text 5"/>
          <p:cNvSpPr/>
          <p:nvPr/>
        </p:nvSpPr>
        <p:spPr>
          <a:xfrm>
            <a:off x="1060704" y="27614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Partitions, shaft walls, MF and suspended ceilings, dry lining.</a:t>
            </a:r>
            <a:endParaRPr lang="en-US" sz="950" dirty="0"/>
          </a:p>
        </p:txBody>
      </p:sp>
      <p:sp>
        <p:nvSpPr>
          <p:cNvPr id="9" name="Shape 6"/>
          <p:cNvSpPr/>
          <p:nvPr/>
        </p:nvSpPr>
        <p:spPr>
          <a:xfrm>
            <a:off x="3493008" y="14630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0" name="Shape 7"/>
          <p:cNvSpPr/>
          <p:nvPr/>
        </p:nvSpPr>
        <p:spPr>
          <a:xfrm>
            <a:off x="3730752" y="1700784"/>
            <a:ext cx="493776" cy="493776"/>
          </a:xfrm>
          <a:prstGeom prst="ellipse">
            <a:avLst/>
          </a:prstGeom>
          <a:solidFill>
            <a:srgbClr val="083819"/>
          </a:solidFill>
          <a:ln/>
        </p:spPr>
      </p:sp>
      <p:pic>
        <p:nvPicPr>
          <p:cNvPr id="11" name="Image 1" descr="preencoded.png">    </p:cNvPr>
          <p:cNvPicPr>
            <a:picLocks noChangeAspect="1"/>
          </p:cNvPicPr>
          <p:nvPr/>
        </p:nvPicPr>
        <p:blipFill>
          <a:blip r:embed="rId2"/>
          <a:stretch>
            <a:fillRect/>
          </a:stretch>
        </p:blipFill>
        <p:spPr>
          <a:xfrm>
            <a:off x="3864072" y="1834104"/>
            <a:ext cx="227137" cy="227137"/>
          </a:xfrm>
          <a:prstGeom prst="rect">
            <a:avLst/>
          </a:prstGeom>
        </p:spPr>
      </p:pic>
      <p:sp>
        <p:nvSpPr>
          <p:cNvPr id="12" name="Text 8"/>
          <p:cNvSpPr/>
          <p:nvPr/>
        </p:nvSpPr>
        <p:spPr>
          <a:xfrm>
            <a:off x="3730752" y="22860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Fire &amp; acoustic-rated systems</a:t>
            </a:r>
            <a:endParaRPr lang="en-US" sz="1200" dirty="0"/>
          </a:p>
        </p:txBody>
      </p:sp>
      <p:sp>
        <p:nvSpPr>
          <p:cNvPr id="13" name="Text 9"/>
          <p:cNvSpPr/>
          <p:nvPr/>
        </p:nvSpPr>
        <p:spPr>
          <a:xfrm>
            <a:off x="3730752" y="27614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Built to the certified detail and documented for inspection.</a:t>
            </a:r>
            <a:endParaRPr lang="en-US" sz="950" dirty="0"/>
          </a:p>
        </p:txBody>
      </p:sp>
      <p:sp>
        <p:nvSpPr>
          <p:cNvPr id="14" name="Shape 10"/>
          <p:cNvSpPr/>
          <p:nvPr/>
        </p:nvSpPr>
        <p:spPr>
          <a:xfrm>
            <a:off x="6163056" y="14630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5" name="Shape 11"/>
          <p:cNvSpPr/>
          <p:nvPr/>
        </p:nvSpPr>
        <p:spPr>
          <a:xfrm>
            <a:off x="6400800" y="1700784"/>
            <a:ext cx="493776" cy="493776"/>
          </a:xfrm>
          <a:prstGeom prst="ellipse">
            <a:avLst/>
          </a:prstGeom>
          <a:solidFill>
            <a:srgbClr val="083819"/>
          </a:solidFill>
          <a:ln/>
        </p:spPr>
      </p:sp>
      <p:pic>
        <p:nvPicPr>
          <p:cNvPr id="16" name="Image 2" descr="preencoded.png">    </p:cNvPr>
          <p:cNvPicPr>
            <a:picLocks noChangeAspect="1"/>
          </p:cNvPicPr>
          <p:nvPr/>
        </p:nvPicPr>
        <p:blipFill>
          <a:blip r:embed="rId3"/>
          <a:stretch>
            <a:fillRect/>
          </a:stretch>
        </p:blipFill>
        <p:spPr>
          <a:xfrm>
            <a:off x="6534120" y="1834104"/>
            <a:ext cx="227137" cy="227137"/>
          </a:xfrm>
          <a:prstGeom prst="rect">
            <a:avLst/>
          </a:prstGeom>
        </p:spPr>
      </p:pic>
      <p:sp>
        <p:nvSpPr>
          <p:cNvPr id="17" name="Text 12"/>
          <p:cNvSpPr/>
          <p:nvPr/>
        </p:nvSpPr>
        <p:spPr>
          <a:xfrm>
            <a:off x="6400800" y="22860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Timber wall &amp; ceiling panels</a:t>
            </a:r>
            <a:endParaRPr lang="en-US" sz="1200" dirty="0"/>
          </a:p>
        </p:txBody>
      </p:sp>
      <p:sp>
        <p:nvSpPr>
          <p:cNvPr id="18" name="Text 13"/>
          <p:cNvSpPr/>
          <p:nvPr/>
        </p:nvSpPr>
        <p:spPr>
          <a:xfrm>
            <a:off x="6400800" y="27614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Veneered and slatted finishes, acoustic-backed where needed.</a:t>
            </a:r>
            <a:endParaRPr lang="en-US" sz="950" dirty="0"/>
          </a:p>
        </p:txBody>
      </p:sp>
      <p:sp>
        <p:nvSpPr>
          <p:cNvPr id="19" name="Shape 14"/>
          <p:cNvSpPr/>
          <p:nvPr/>
        </p:nvSpPr>
        <p:spPr>
          <a:xfrm>
            <a:off x="822960" y="32918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20" name="Shape 15"/>
          <p:cNvSpPr/>
          <p:nvPr/>
        </p:nvSpPr>
        <p:spPr>
          <a:xfrm>
            <a:off x="1060704" y="3529584"/>
            <a:ext cx="493776" cy="493776"/>
          </a:xfrm>
          <a:prstGeom prst="ellipse">
            <a:avLst/>
          </a:prstGeom>
          <a:solidFill>
            <a:srgbClr val="083819"/>
          </a:solidFill>
          <a:ln/>
        </p:spPr>
      </p:sp>
      <p:pic>
        <p:nvPicPr>
          <p:cNvPr id="21" name="Image 3" descr="preencoded.png">    </p:cNvPr>
          <p:cNvPicPr>
            <a:picLocks noChangeAspect="1"/>
          </p:cNvPicPr>
          <p:nvPr/>
        </p:nvPicPr>
        <p:blipFill>
          <a:blip r:embed="rId4"/>
          <a:stretch>
            <a:fillRect/>
          </a:stretch>
        </p:blipFill>
        <p:spPr>
          <a:xfrm>
            <a:off x="1194024" y="3662904"/>
            <a:ext cx="227137" cy="227137"/>
          </a:xfrm>
          <a:prstGeom prst="rect">
            <a:avLst/>
          </a:prstGeom>
        </p:spPr>
      </p:pic>
      <p:sp>
        <p:nvSpPr>
          <p:cNvPr id="22" name="Text 16"/>
          <p:cNvSpPr/>
          <p:nvPr/>
        </p:nvSpPr>
        <p:spPr>
          <a:xfrm>
            <a:off x="1060704" y="41148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Aluminium &amp; glazing</a:t>
            </a:r>
            <a:endParaRPr lang="en-US" sz="1200" dirty="0"/>
          </a:p>
        </p:txBody>
      </p:sp>
      <p:sp>
        <p:nvSpPr>
          <p:cNvPr id="23" name="Text 17"/>
          <p:cNvSpPr/>
          <p:nvPr/>
        </p:nvSpPr>
        <p:spPr>
          <a:xfrm>
            <a:off x="1060704" y="45902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Single and double-glazed systems, framed or frameless.</a:t>
            </a:r>
            <a:endParaRPr lang="en-US" sz="950" dirty="0"/>
          </a:p>
        </p:txBody>
      </p:sp>
      <p:sp>
        <p:nvSpPr>
          <p:cNvPr id="24" name="Shape 18"/>
          <p:cNvSpPr/>
          <p:nvPr/>
        </p:nvSpPr>
        <p:spPr>
          <a:xfrm>
            <a:off x="3493008" y="32918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25" name="Shape 19"/>
          <p:cNvSpPr/>
          <p:nvPr/>
        </p:nvSpPr>
        <p:spPr>
          <a:xfrm>
            <a:off x="3730752" y="3529584"/>
            <a:ext cx="493776" cy="493776"/>
          </a:xfrm>
          <a:prstGeom prst="ellipse">
            <a:avLst/>
          </a:prstGeom>
          <a:solidFill>
            <a:srgbClr val="083819"/>
          </a:solidFill>
          <a:ln/>
        </p:spPr>
      </p:sp>
      <p:pic>
        <p:nvPicPr>
          <p:cNvPr id="26" name="Image 4" descr="preencoded.png">    </p:cNvPr>
          <p:cNvPicPr>
            <a:picLocks noChangeAspect="1"/>
          </p:cNvPicPr>
          <p:nvPr/>
        </p:nvPicPr>
        <p:blipFill>
          <a:blip r:embed="rId5"/>
          <a:stretch>
            <a:fillRect/>
          </a:stretch>
        </p:blipFill>
        <p:spPr>
          <a:xfrm>
            <a:off x="3864072" y="3662904"/>
            <a:ext cx="227137" cy="227137"/>
          </a:xfrm>
          <a:prstGeom prst="rect">
            <a:avLst/>
          </a:prstGeom>
        </p:spPr>
      </p:pic>
      <p:sp>
        <p:nvSpPr>
          <p:cNvPr id="27" name="Text 20"/>
          <p:cNvSpPr/>
          <p:nvPr/>
        </p:nvSpPr>
        <p:spPr>
          <a:xfrm>
            <a:off x="3730752" y="41148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Painting &amp; decoration</a:t>
            </a:r>
            <a:endParaRPr lang="en-US" sz="1200" dirty="0"/>
          </a:p>
        </p:txBody>
      </p:sp>
      <p:sp>
        <p:nvSpPr>
          <p:cNvPr id="28" name="Text 21"/>
          <p:cNvSpPr/>
          <p:nvPr/>
        </p:nvSpPr>
        <p:spPr>
          <a:xfrm>
            <a:off x="3730752" y="45902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Commercial-grade paint and decorative finishes, handover-ready.</a:t>
            </a:r>
            <a:endParaRPr lang="en-US" sz="950" dirty="0"/>
          </a:p>
        </p:txBody>
      </p:sp>
      <p:sp>
        <p:nvSpPr>
          <p:cNvPr id="29" name="Shape 22"/>
          <p:cNvSpPr/>
          <p:nvPr/>
        </p:nvSpPr>
        <p:spPr>
          <a:xfrm>
            <a:off x="6163056" y="3291840"/>
            <a:ext cx="2432304" cy="1691640"/>
          </a:xfrm>
          <a:prstGeom prst="roundRect">
            <a:avLst>
              <a:gd name="adj" fmla="val 3243"/>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30" name="Shape 23"/>
          <p:cNvSpPr/>
          <p:nvPr/>
        </p:nvSpPr>
        <p:spPr>
          <a:xfrm>
            <a:off x="6400800" y="3529584"/>
            <a:ext cx="493776" cy="493776"/>
          </a:xfrm>
          <a:prstGeom prst="ellipse">
            <a:avLst/>
          </a:prstGeom>
          <a:solidFill>
            <a:srgbClr val="083819"/>
          </a:solidFill>
          <a:ln/>
        </p:spPr>
      </p:sp>
      <p:pic>
        <p:nvPicPr>
          <p:cNvPr id="31" name="Image 5" descr="preencoded.png">    </p:cNvPr>
          <p:cNvPicPr>
            <a:picLocks noChangeAspect="1"/>
          </p:cNvPicPr>
          <p:nvPr/>
        </p:nvPicPr>
        <p:blipFill>
          <a:blip r:embed="rId6"/>
          <a:stretch>
            <a:fillRect/>
          </a:stretch>
        </p:blipFill>
        <p:spPr>
          <a:xfrm>
            <a:off x="6534120" y="3662904"/>
            <a:ext cx="227137" cy="227137"/>
          </a:xfrm>
          <a:prstGeom prst="rect">
            <a:avLst/>
          </a:prstGeom>
        </p:spPr>
      </p:pic>
      <p:sp>
        <p:nvSpPr>
          <p:cNvPr id="32" name="Text 24"/>
          <p:cNvSpPr/>
          <p:nvPr/>
        </p:nvSpPr>
        <p:spPr>
          <a:xfrm>
            <a:off x="6400800" y="4114800"/>
            <a:ext cx="2011680" cy="457200"/>
          </a:xfrm>
          <a:prstGeom prst="rect">
            <a:avLst/>
          </a:prstGeom>
          <a:noFill/>
          <a:ln/>
        </p:spPr>
        <p:txBody>
          <a:bodyPr wrap="square" lIns="0" tIns="0" rIns="0" bIns="0" rtlCol="0" anchor="t"/>
          <a:lstStyle/>
          <a:p>
            <a:pPr indent="0" marL="0">
              <a:lnSpc>
                <a:spcPct val="100000"/>
              </a:lnSpc>
              <a:buNone/>
            </a:pPr>
            <a:r>
              <a:rPr lang="en-US" sz="1200" b="1" dirty="0">
                <a:solidFill>
                  <a:srgbClr val="13211A"/>
                </a:solidFill>
                <a:latin typeface="Montserrat" pitchFamily="34" charset="0"/>
                <a:ea typeface="Montserrat" pitchFamily="34" charset="-122"/>
                <a:cs typeface="Montserrat" pitchFamily="34" charset="-120"/>
              </a:rPr>
              <a:t>Joinery</a:t>
            </a:r>
            <a:endParaRPr lang="en-US" sz="1200" dirty="0"/>
          </a:p>
        </p:txBody>
      </p:sp>
      <p:sp>
        <p:nvSpPr>
          <p:cNvPr id="33" name="Text 25"/>
          <p:cNvSpPr/>
          <p:nvPr/>
        </p:nvSpPr>
        <p:spPr>
          <a:xfrm>
            <a:off x="6400800" y="4590288"/>
            <a:ext cx="2048256" cy="365760"/>
          </a:xfrm>
          <a:prstGeom prst="rect">
            <a:avLst/>
          </a:prstGeom>
          <a:noFill/>
          <a:ln/>
        </p:spPr>
        <p:txBody>
          <a:bodyPr wrap="square" lIns="0" tIns="0" rIns="0" bIns="0" rtlCol="0" anchor="ctr"/>
          <a:lstStyle/>
          <a:p>
            <a:pPr indent="0" marL="0">
              <a:lnSpc>
                <a:spcPct val="115000"/>
              </a:lnSpc>
              <a:buNone/>
            </a:pPr>
            <a:r>
              <a:rPr lang="en-US" sz="950" dirty="0">
                <a:solidFill>
                  <a:srgbClr val="5C6F66"/>
                </a:solidFill>
                <a:latin typeface="Montserrat" pitchFamily="34" charset="0"/>
                <a:ea typeface="Montserrat" pitchFamily="34" charset="-122"/>
                <a:cs typeface="Montserrat" pitchFamily="34" charset="-120"/>
              </a:rPr>
              <a:t>Reception counters, tea points, storage and feature joinery.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TRACK RECORD</a:t>
            </a:r>
            <a:endParaRPr lang="en-US" sz="1100" dirty="0"/>
          </a:p>
        </p:txBody>
      </p:sp>
      <p:sp>
        <p:nvSpPr>
          <p:cNvPr id="3" name="Text 1"/>
          <p:cNvSpPr/>
          <p:nvPr/>
        </p:nvSpPr>
        <p:spPr>
          <a:xfrm>
            <a:off x="822960" y="1005840"/>
            <a:ext cx="7498080" cy="54864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A record that survives diligence</a:t>
            </a:r>
            <a:endParaRPr lang="en-US" sz="2600" dirty="0"/>
          </a:p>
        </p:txBody>
      </p:sp>
      <p:sp>
        <p:nvSpPr>
          <p:cNvPr id="4" name="Shape 2"/>
          <p:cNvSpPr/>
          <p:nvPr/>
        </p:nvSpPr>
        <p:spPr>
          <a:xfrm>
            <a:off x="822960"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5" name="Text 3"/>
          <p:cNvSpPr/>
          <p:nvPr/>
        </p:nvSpPr>
        <p:spPr>
          <a:xfrm>
            <a:off x="850392" y="2185416"/>
            <a:ext cx="1746504" cy="502920"/>
          </a:xfrm>
          <a:prstGeom prst="rect">
            <a:avLst/>
          </a:prstGeom>
          <a:noFill/>
          <a:ln/>
        </p:spPr>
        <p:txBody>
          <a:bodyPr wrap="square" lIns="0" tIns="0" rIns="0" bIns="0" rtlCol="0" anchor="ctr"/>
          <a:lstStyle/>
          <a:p>
            <a:pPr algn="ctr" indent="0" marL="0">
              <a:buNone/>
            </a:pPr>
            <a:r>
              <a:rPr lang="en-US" sz="2500" b="1" dirty="0">
                <a:solidFill>
                  <a:srgbClr val="083819"/>
                </a:solidFill>
                <a:latin typeface="Montserrat" pitchFamily="34" charset="0"/>
                <a:ea typeface="Montserrat" pitchFamily="34" charset="-122"/>
                <a:cs typeface="Montserrat" pitchFamily="34" charset="-120"/>
              </a:rPr>
              <a:t>4</a:t>
            </a:r>
            <a:endParaRPr lang="en-US" sz="2500" dirty="0"/>
          </a:p>
        </p:txBody>
      </p:sp>
      <p:sp>
        <p:nvSpPr>
          <p:cNvPr id="6" name="Text 4"/>
          <p:cNvSpPr/>
          <p:nvPr/>
        </p:nvSpPr>
        <p:spPr>
          <a:xfrm>
            <a:off x="932688" y="2743200"/>
            <a:ext cx="1581912" cy="411480"/>
          </a:xfrm>
          <a:prstGeom prst="rect">
            <a:avLst/>
          </a:prstGeom>
          <a:noFill/>
          <a:ln/>
        </p:spPr>
        <p:txBody>
          <a:bodyPr wrap="square" lIns="0" tIns="0" rIns="0" bIns="0" rtlCol="0" anchor="ctr"/>
          <a:lstStyle/>
          <a:p>
            <a:pPr algn="ctr" indent="0" marL="0">
              <a:lnSpc>
                <a:spcPct val="110000"/>
              </a:lnSpc>
              <a:buNone/>
            </a:pPr>
            <a:r>
              <a:rPr lang="en-US" sz="1050" dirty="0">
                <a:solidFill>
                  <a:srgbClr val="5C6F66"/>
                </a:solidFill>
                <a:latin typeface="Montserrat" pitchFamily="34" charset="0"/>
                <a:ea typeface="Montserrat" pitchFamily="34" charset="-122"/>
                <a:cs typeface="Montserrat" pitchFamily="34" charset="-120"/>
              </a:rPr>
              <a:t>sectors delivered</a:t>
            </a:r>
            <a:endParaRPr lang="en-US" sz="1050" dirty="0"/>
          </a:p>
        </p:txBody>
      </p:sp>
      <p:sp>
        <p:nvSpPr>
          <p:cNvPr id="7" name="Shape 5"/>
          <p:cNvSpPr/>
          <p:nvPr/>
        </p:nvSpPr>
        <p:spPr>
          <a:xfrm>
            <a:off x="2752344"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8" name="Text 6"/>
          <p:cNvSpPr/>
          <p:nvPr/>
        </p:nvSpPr>
        <p:spPr>
          <a:xfrm>
            <a:off x="2779776" y="2185416"/>
            <a:ext cx="1746504" cy="502920"/>
          </a:xfrm>
          <a:prstGeom prst="rect">
            <a:avLst/>
          </a:prstGeom>
          <a:noFill/>
          <a:ln/>
        </p:spPr>
        <p:txBody>
          <a:bodyPr wrap="square" lIns="0" tIns="0" rIns="0" bIns="0" rtlCol="0" anchor="ctr"/>
          <a:lstStyle/>
          <a:p>
            <a:pPr algn="ctr" indent="0" marL="0">
              <a:buNone/>
            </a:pPr>
            <a:r>
              <a:rPr lang="en-US" sz="2500" b="1" dirty="0">
                <a:solidFill>
                  <a:srgbClr val="083819"/>
                </a:solidFill>
                <a:latin typeface="Montserrat" pitchFamily="34" charset="0"/>
                <a:ea typeface="Montserrat" pitchFamily="34" charset="-122"/>
                <a:cs typeface="Montserrat" pitchFamily="34" charset="-120"/>
              </a:rPr>
              <a:t>11</a:t>
            </a:r>
            <a:endParaRPr lang="en-US" sz="2500" dirty="0"/>
          </a:p>
        </p:txBody>
      </p:sp>
      <p:sp>
        <p:nvSpPr>
          <p:cNvPr id="9" name="Text 7"/>
          <p:cNvSpPr/>
          <p:nvPr/>
        </p:nvSpPr>
        <p:spPr>
          <a:xfrm>
            <a:off x="2862072" y="2743200"/>
            <a:ext cx="1581912" cy="411480"/>
          </a:xfrm>
          <a:prstGeom prst="rect">
            <a:avLst/>
          </a:prstGeom>
          <a:noFill/>
          <a:ln/>
        </p:spPr>
        <p:txBody>
          <a:bodyPr wrap="square" lIns="0" tIns="0" rIns="0" bIns="0" rtlCol="0" anchor="ctr"/>
          <a:lstStyle/>
          <a:p>
            <a:pPr algn="ctr" indent="0" marL="0">
              <a:lnSpc>
                <a:spcPct val="110000"/>
              </a:lnSpc>
              <a:buNone/>
            </a:pPr>
            <a:r>
              <a:rPr lang="en-US" sz="1050" dirty="0">
                <a:solidFill>
                  <a:srgbClr val="5C6F66"/>
                </a:solidFill>
                <a:latin typeface="Montserrat" pitchFamily="34" charset="0"/>
                <a:ea typeface="Montserrat" pitchFamily="34" charset="-122"/>
                <a:cs typeface="Montserrat" pitchFamily="34" charset="-120"/>
              </a:rPr>
              <a:t>schemes delivered</a:t>
            </a:r>
            <a:endParaRPr lang="en-US" sz="1050" dirty="0"/>
          </a:p>
        </p:txBody>
      </p:sp>
      <p:sp>
        <p:nvSpPr>
          <p:cNvPr id="10" name="Shape 8"/>
          <p:cNvSpPr/>
          <p:nvPr/>
        </p:nvSpPr>
        <p:spPr>
          <a:xfrm>
            <a:off x="4681728"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4709160" y="2185416"/>
            <a:ext cx="1746504" cy="502920"/>
          </a:xfrm>
          <a:prstGeom prst="rect">
            <a:avLst/>
          </a:prstGeom>
          <a:noFill/>
          <a:ln/>
        </p:spPr>
        <p:txBody>
          <a:bodyPr wrap="square" lIns="0" tIns="0" rIns="0" bIns="0" rtlCol="0" anchor="ctr"/>
          <a:lstStyle/>
          <a:p>
            <a:pPr algn="ctr" indent="0" marL="0">
              <a:buNone/>
            </a:pPr>
            <a:r>
              <a:rPr lang="en-US" sz="2500" b="1" dirty="0">
                <a:solidFill>
                  <a:srgbClr val="083819"/>
                </a:solidFill>
                <a:latin typeface="Montserrat" pitchFamily="34" charset="0"/>
                <a:ea typeface="Montserrat" pitchFamily="34" charset="-122"/>
                <a:cs typeface="Montserrat" pitchFamily="34" charset="-120"/>
              </a:rPr>
              <a:t>13</a:t>
            </a:r>
            <a:endParaRPr lang="en-US" sz="2500" dirty="0"/>
          </a:p>
        </p:txBody>
      </p:sp>
      <p:sp>
        <p:nvSpPr>
          <p:cNvPr id="12" name="Text 10"/>
          <p:cNvSpPr/>
          <p:nvPr/>
        </p:nvSpPr>
        <p:spPr>
          <a:xfrm>
            <a:off x="4791456" y="2743200"/>
            <a:ext cx="1581912" cy="411480"/>
          </a:xfrm>
          <a:prstGeom prst="rect">
            <a:avLst/>
          </a:prstGeom>
          <a:noFill/>
          <a:ln/>
        </p:spPr>
        <p:txBody>
          <a:bodyPr wrap="square" lIns="0" tIns="0" rIns="0" bIns="0" rtlCol="0" anchor="ctr"/>
          <a:lstStyle/>
          <a:p>
            <a:pPr algn="ctr" indent="0" marL="0">
              <a:lnSpc>
                <a:spcPct val="110000"/>
              </a:lnSpc>
              <a:buNone/>
            </a:pPr>
            <a:r>
              <a:rPr lang="en-US" sz="1050" dirty="0">
                <a:solidFill>
                  <a:srgbClr val="5C6F66"/>
                </a:solidFill>
                <a:latin typeface="Montserrat" pitchFamily="34" charset="0"/>
                <a:ea typeface="Montserrat" pitchFamily="34" charset="-122"/>
                <a:cs typeface="Montserrat" pitchFamily="34" charset="-120"/>
              </a:rPr>
              <a:t>zones live in the UAE</a:t>
            </a:r>
            <a:endParaRPr lang="en-US" sz="1050" dirty="0"/>
          </a:p>
        </p:txBody>
      </p:sp>
      <p:sp>
        <p:nvSpPr>
          <p:cNvPr id="13" name="Shape 11"/>
          <p:cNvSpPr/>
          <p:nvPr/>
        </p:nvSpPr>
        <p:spPr>
          <a:xfrm>
            <a:off x="6611112"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4" name="Text 12"/>
          <p:cNvSpPr/>
          <p:nvPr/>
        </p:nvSpPr>
        <p:spPr>
          <a:xfrm>
            <a:off x="6638544" y="2185416"/>
            <a:ext cx="1746504" cy="502920"/>
          </a:xfrm>
          <a:prstGeom prst="rect">
            <a:avLst/>
          </a:prstGeom>
          <a:noFill/>
          <a:ln/>
        </p:spPr>
        <p:txBody>
          <a:bodyPr wrap="square" lIns="0" tIns="0" rIns="0" bIns="0" rtlCol="0" anchor="ctr"/>
          <a:lstStyle/>
          <a:p>
            <a:pPr algn="ctr" indent="0" marL="0">
              <a:buNone/>
            </a:pPr>
            <a:r>
              <a:rPr lang="en-US" sz="2500" b="1" dirty="0">
                <a:solidFill>
                  <a:srgbClr val="083819"/>
                </a:solidFill>
                <a:latin typeface="Montserrat" pitchFamily="34" charset="0"/>
                <a:ea typeface="Montserrat" pitchFamily="34" charset="-122"/>
                <a:cs typeface="Montserrat" pitchFamily="34" charset="-120"/>
              </a:rPr>
              <a:t>1986</a:t>
            </a:r>
            <a:endParaRPr lang="en-US" sz="2500" dirty="0"/>
          </a:p>
        </p:txBody>
      </p:sp>
      <p:sp>
        <p:nvSpPr>
          <p:cNvPr id="15" name="Text 13"/>
          <p:cNvSpPr/>
          <p:nvPr/>
        </p:nvSpPr>
        <p:spPr>
          <a:xfrm>
            <a:off x="6720840" y="2743200"/>
            <a:ext cx="1581912" cy="411480"/>
          </a:xfrm>
          <a:prstGeom prst="rect">
            <a:avLst/>
          </a:prstGeom>
          <a:noFill/>
          <a:ln/>
        </p:spPr>
        <p:txBody>
          <a:bodyPr wrap="square" lIns="0" tIns="0" rIns="0" bIns="0" rtlCol="0" anchor="ctr"/>
          <a:lstStyle/>
          <a:p>
            <a:pPr algn="ctr" indent="0" marL="0">
              <a:lnSpc>
                <a:spcPct val="110000"/>
              </a:lnSpc>
              <a:buNone/>
            </a:pPr>
            <a:r>
              <a:rPr lang="en-US" sz="1050" dirty="0">
                <a:solidFill>
                  <a:srgbClr val="5C6F66"/>
                </a:solidFill>
                <a:latin typeface="Montserrat" pitchFamily="34" charset="0"/>
                <a:ea typeface="Montserrat" pitchFamily="34" charset="-122"/>
                <a:cs typeface="Montserrat" pitchFamily="34" charset="-120"/>
              </a:rPr>
              <a:t>in this trade since</a:t>
            </a:r>
            <a:endParaRPr lang="en-US" sz="1050" dirty="0"/>
          </a:p>
        </p:txBody>
      </p:sp>
      <p:sp>
        <p:nvSpPr>
          <p:cNvPr id="16" name="Text 14"/>
          <p:cNvSpPr/>
          <p:nvPr/>
        </p:nvSpPr>
        <p:spPr>
          <a:xfrm>
            <a:off x="822960" y="3520440"/>
            <a:ext cx="7498080" cy="365760"/>
          </a:xfrm>
          <a:prstGeom prst="rect">
            <a:avLst/>
          </a:prstGeom>
          <a:noFill/>
          <a:ln/>
        </p:spPr>
        <p:txBody>
          <a:bodyPr wrap="square" lIns="0" tIns="0" rIns="0" bIns="0" rtlCol="0" anchor="ctr"/>
          <a:lstStyle/>
          <a:p>
            <a:pPr indent="0" marL="0">
              <a:buNone/>
            </a:pPr>
            <a:r>
              <a:rPr lang="en-US" sz="1300" b="1" dirty="0">
                <a:solidFill>
                  <a:srgbClr val="13211A"/>
                </a:solidFill>
                <a:latin typeface="Montserrat" pitchFamily="34" charset="0"/>
                <a:ea typeface="Montserrat" pitchFamily="34" charset="-122"/>
                <a:cs typeface="Montserrat" pitchFamily="34" charset="-120"/>
              </a:rPr>
              <a:t>Sectors:  </a:t>
            </a:r>
            <a:pPr indent="0" marL="0">
              <a:buNone/>
            </a:pPr>
            <a:r>
              <a:rPr lang="en-US" sz="1300" dirty="0">
                <a:solidFill>
                  <a:srgbClr val="5C6F66"/>
                </a:solidFill>
                <a:latin typeface="Montserrat" pitchFamily="34" charset="0"/>
                <a:ea typeface="Montserrat" pitchFamily="34" charset="-122"/>
                <a:cs typeface="Montserrat" pitchFamily="34" charset="-120"/>
              </a:rPr>
              <a:t>Residential   ·   Workplace   ·   Hotels &amp; leisure   ·   Education</a:t>
            </a:r>
            <a:endParaRPr lang="en-US" sz="1300" dirty="0"/>
          </a:p>
        </p:txBody>
      </p:sp>
      <p:sp>
        <p:nvSpPr>
          <p:cNvPr id="17" name="Text 15"/>
          <p:cNvSpPr/>
          <p:nvPr/>
        </p:nvSpPr>
        <p:spPr>
          <a:xfrm>
            <a:off x="822960" y="4069080"/>
            <a:ext cx="7498080" cy="457200"/>
          </a:xfrm>
          <a:prstGeom prst="rect">
            <a:avLst/>
          </a:prstGeom>
          <a:noFill/>
          <a:ln/>
        </p:spPr>
        <p:txBody>
          <a:bodyPr wrap="square" lIns="0" tIns="0" rIns="0" bIns="0" rtlCol="0" anchor="ctr"/>
          <a:lstStyle/>
          <a:p>
            <a:pPr indent="0" marL="0">
              <a:buNone/>
            </a:pPr>
            <a:r>
              <a:rPr lang="en-US" sz="1050" i="1" dirty="0">
                <a:solidFill>
                  <a:srgbClr val="7C8181"/>
                </a:solidFill>
                <a:latin typeface="Montserrat" pitchFamily="34" charset="0"/>
                <a:ea typeface="Montserrat" pitchFamily="34" charset="-122"/>
                <a:cs typeface="Montserrat" pitchFamily="34" charset="-120"/>
              </a:rPr>
              <a:t>Delivered across the UK and Ireland by the people in this business, carried over from their E&amp;D Drywall heritage. Turnover, audited accounts and references are in our PQQ pack, on request.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WHERE WE WORK</a:t>
            </a:r>
            <a:endParaRPr lang="en-US" sz="1100" dirty="0"/>
          </a:p>
        </p:txBody>
      </p:sp>
      <p:sp>
        <p:nvSpPr>
          <p:cNvPr id="3" name="Text 1"/>
          <p:cNvSpPr/>
          <p:nvPr/>
        </p:nvSpPr>
        <p:spPr>
          <a:xfrm>
            <a:off x="822960" y="1005840"/>
            <a:ext cx="7498080" cy="54864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Delivery in the UAE. Experience behind it.</a:t>
            </a:r>
            <a:endParaRPr lang="en-US" sz="2600" dirty="0"/>
          </a:p>
        </p:txBody>
      </p:sp>
      <p:sp>
        <p:nvSpPr>
          <p:cNvPr id="4" name="Shape 2"/>
          <p:cNvSpPr/>
          <p:nvPr/>
        </p:nvSpPr>
        <p:spPr>
          <a:xfrm>
            <a:off x="822960"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1431036" y="2112264"/>
            <a:ext cx="585216" cy="585216"/>
          </a:xfrm>
          <a:prstGeom prst="ellipse">
            <a:avLst/>
          </a:prstGeom>
          <a:solidFill>
            <a:srgbClr val="083819"/>
          </a:solidFill>
          <a:ln/>
        </p:spPr>
      </p:sp>
      <p:pic>
        <p:nvPicPr>
          <p:cNvPr id="6" name="Image 0" descr="preencoded.png">    </p:cNvPr>
          <p:cNvPicPr>
            <a:picLocks noChangeAspect="1"/>
          </p:cNvPicPr>
          <p:nvPr/>
        </p:nvPicPr>
        <p:blipFill>
          <a:blip r:embed="rId1"/>
          <a:stretch>
            <a:fillRect/>
          </a:stretch>
        </p:blipFill>
        <p:spPr>
          <a:xfrm>
            <a:off x="1589044" y="2270272"/>
            <a:ext cx="269199" cy="269199"/>
          </a:xfrm>
          <a:prstGeom prst="rect">
            <a:avLst/>
          </a:prstGeom>
        </p:spPr>
      </p:pic>
      <p:sp>
        <p:nvSpPr>
          <p:cNvPr id="7" name="Text 4"/>
          <p:cNvSpPr/>
          <p:nvPr/>
        </p:nvSpPr>
        <p:spPr>
          <a:xfrm>
            <a:off x="914400" y="2788920"/>
            <a:ext cx="1618488" cy="365760"/>
          </a:xfrm>
          <a:prstGeom prst="rect">
            <a:avLst/>
          </a:prstGeom>
          <a:noFill/>
          <a:ln/>
        </p:spPr>
        <p:txBody>
          <a:bodyPr wrap="square" lIns="0" tIns="0" rIns="0" bIns="0" rtlCol="0" anchor="ctr"/>
          <a:lstStyle/>
          <a:p>
            <a:pPr algn="ctr" indent="0" marL="0">
              <a:buNone/>
            </a:pPr>
            <a:r>
              <a:rPr lang="en-US" sz="1500" b="1" dirty="0">
                <a:solidFill>
                  <a:srgbClr val="13211A"/>
                </a:solidFill>
                <a:latin typeface="Montserrat" pitchFamily="34" charset="0"/>
                <a:ea typeface="Montserrat" pitchFamily="34" charset="-122"/>
                <a:cs typeface="Montserrat" pitchFamily="34" charset="-120"/>
              </a:rPr>
              <a:t>UAE</a:t>
            </a:r>
            <a:endParaRPr lang="en-US" sz="1500" dirty="0"/>
          </a:p>
        </p:txBody>
      </p:sp>
      <p:sp>
        <p:nvSpPr>
          <p:cNvPr id="8" name="Shape 5"/>
          <p:cNvSpPr/>
          <p:nvPr/>
        </p:nvSpPr>
        <p:spPr>
          <a:xfrm>
            <a:off x="2752344"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9" name="Shape 6"/>
          <p:cNvSpPr/>
          <p:nvPr/>
        </p:nvSpPr>
        <p:spPr>
          <a:xfrm>
            <a:off x="3360420" y="2112264"/>
            <a:ext cx="585216" cy="585216"/>
          </a:xfrm>
          <a:prstGeom prst="ellipse">
            <a:avLst/>
          </a:prstGeom>
          <a:solidFill>
            <a:srgbClr val="083819"/>
          </a:solidFill>
          <a:ln/>
        </p:spPr>
      </p:sp>
      <p:pic>
        <p:nvPicPr>
          <p:cNvPr id="10" name="Image 1" descr="preencoded.png">    </p:cNvPr>
          <p:cNvPicPr>
            <a:picLocks noChangeAspect="1"/>
          </p:cNvPicPr>
          <p:nvPr/>
        </p:nvPicPr>
        <p:blipFill>
          <a:blip r:embed="rId2"/>
          <a:stretch>
            <a:fillRect/>
          </a:stretch>
        </p:blipFill>
        <p:spPr>
          <a:xfrm>
            <a:off x="3518428" y="2270272"/>
            <a:ext cx="269199" cy="269199"/>
          </a:xfrm>
          <a:prstGeom prst="rect">
            <a:avLst/>
          </a:prstGeom>
        </p:spPr>
      </p:pic>
      <p:sp>
        <p:nvSpPr>
          <p:cNvPr id="11" name="Text 7"/>
          <p:cNvSpPr/>
          <p:nvPr/>
        </p:nvSpPr>
        <p:spPr>
          <a:xfrm>
            <a:off x="2843784" y="2788920"/>
            <a:ext cx="1618488" cy="365760"/>
          </a:xfrm>
          <a:prstGeom prst="rect">
            <a:avLst/>
          </a:prstGeom>
          <a:noFill/>
          <a:ln/>
        </p:spPr>
        <p:txBody>
          <a:bodyPr wrap="square" lIns="0" tIns="0" rIns="0" bIns="0" rtlCol="0" anchor="ctr"/>
          <a:lstStyle/>
          <a:p>
            <a:pPr algn="ctr" indent="0" marL="0">
              <a:buNone/>
            </a:pPr>
            <a:r>
              <a:rPr lang="en-US" sz="1500" b="1" dirty="0">
                <a:solidFill>
                  <a:srgbClr val="13211A"/>
                </a:solidFill>
                <a:latin typeface="Montserrat" pitchFamily="34" charset="0"/>
                <a:ea typeface="Montserrat" pitchFamily="34" charset="-122"/>
                <a:cs typeface="Montserrat" pitchFamily="34" charset="-120"/>
              </a:rPr>
              <a:t>Ireland</a:t>
            </a:r>
            <a:endParaRPr lang="en-US" sz="1500" dirty="0"/>
          </a:p>
        </p:txBody>
      </p:sp>
      <p:sp>
        <p:nvSpPr>
          <p:cNvPr id="12" name="Shape 8"/>
          <p:cNvSpPr/>
          <p:nvPr/>
        </p:nvSpPr>
        <p:spPr>
          <a:xfrm>
            <a:off x="4681728"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3" name="Shape 9"/>
          <p:cNvSpPr/>
          <p:nvPr/>
        </p:nvSpPr>
        <p:spPr>
          <a:xfrm>
            <a:off x="5289804" y="2112264"/>
            <a:ext cx="585216" cy="585216"/>
          </a:xfrm>
          <a:prstGeom prst="ellipse">
            <a:avLst/>
          </a:prstGeom>
          <a:solidFill>
            <a:srgbClr val="083819"/>
          </a:solidFill>
          <a:ln/>
        </p:spPr>
      </p:sp>
      <p:pic>
        <p:nvPicPr>
          <p:cNvPr id="14" name="Image 2" descr="preencoded.png">    </p:cNvPr>
          <p:cNvPicPr>
            <a:picLocks noChangeAspect="1"/>
          </p:cNvPicPr>
          <p:nvPr/>
        </p:nvPicPr>
        <p:blipFill>
          <a:blip r:embed="rId3"/>
          <a:stretch>
            <a:fillRect/>
          </a:stretch>
        </p:blipFill>
        <p:spPr>
          <a:xfrm>
            <a:off x="5447812" y="2270272"/>
            <a:ext cx="269199" cy="269199"/>
          </a:xfrm>
          <a:prstGeom prst="rect">
            <a:avLst/>
          </a:prstGeom>
        </p:spPr>
      </p:pic>
      <p:sp>
        <p:nvSpPr>
          <p:cNvPr id="15" name="Text 10"/>
          <p:cNvSpPr/>
          <p:nvPr/>
        </p:nvSpPr>
        <p:spPr>
          <a:xfrm>
            <a:off x="4773168" y="2788920"/>
            <a:ext cx="1618488" cy="365760"/>
          </a:xfrm>
          <a:prstGeom prst="rect">
            <a:avLst/>
          </a:prstGeom>
          <a:noFill/>
          <a:ln/>
        </p:spPr>
        <p:txBody>
          <a:bodyPr wrap="square" lIns="0" tIns="0" rIns="0" bIns="0" rtlCol="0" anchor="ctr"/>
          <a:lstStyle/>
          <a:p>
            <a:pPr algn="ctr" indent="0" marL="0">
              <a:buNone/>
            </a:pPr>
            <a:r>
              <a:rPr lang="en-US" sz="1500" b="1" dirty="0">
                <a:solidFill>
                  <a:srgbClr val="13211A"/>
                </a:solidFill>
                <a:latin typeface="Montserrat" pitchFamily="34" charset="0"/>
                <a:ea typeface="Montserrat" pitchFamily="34" charset="-122"/>
                <a:cs typeface="Montserrat" pitchFamily="34" charset="-120"/>
              </a:rPr>
              <a:t>UK</a:t>
            </a:r>
            <a:endParaRPr lang="en-US" sz="1500" dirty="0"/>
          </a:p>
        </p:txBody>
      </p:sp>
      <p:sp>
        <p:nvSpPr>
          <p:cNvPr id="16" name="Shape 11"/>
          <p:cNvSpPr/>
          <p:nvPr/>
        </p:nvSpPr>
        <p:spPr>
          <a:xfrm>
            <a:off x="6611112" y="1874520"/>
            <a:ext cx="1801368" cy="1371600"/>
          </a:xfrm>
          <a:prstGeom prst="roundRect">
            <a:avLst>
              <a:gd name="adj" fmla="val 4000"/>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7" name="Shape 12"/>
          <p:cNvSpPr/>
          <p:nvPr/>
        </p:nvSpPr>
        <p:spPr>
          <a:xfrm>
            <a:off x="7219188" y="2112264"/>
            <a:ext cx="585216" cy="585216"/>
          </a:xfrm>
          <a:prstGeom prst="ellipse">
            <a:avLst/>
          </a:prstGeom>
          <a:solidFill>
            <a:srgbClr val="083819"/>
          </a:solidFill>
          <a:ln/>
        </p:spPr>
      </p:sp>
      <p:pic>
        <p:nvPicPr>
          <p:cNvPr id="18" name="Image 3" descr="preencoded.png">    </p:cNvPr>
          <p:cNvPicPr>
            <a:picLocks noChangeAspect="1"/>
          </p:cNvPicPr>
          <p:nvPr/>
        </p:nvPicPr>
        <p:blipFill>
          <a:blip r:embed="rId4"/>
          <a:stretch>
            <a:fillRect/>
          </a:stretch>
        </p:blipFill>
        <p:spPr>
          <a:xfrm>
            <a:off x="7377196" y="2270272"/>
            <a:ext cx="269199" cy="269199"/>
          </a:xfrm>
          <a:prstGeom prst="rect">
            <a:avLst/>
          </a:prstGeom>
        </p:spPr>
      </p:pic>
      <p:sp>
        <p:nvSpPr>
          <p:cNvPr id="19" name="Text 13"/>
          <p:cNvSpPr/>
          <p:nvPr/>
        </p:nvSpPr>
        <p:spPr>
          <a:xfrm>
            <a:off x="6702552" y="2788920"/>
            <a:ext cx="1618488" cy="365760"/>
          </a:xfrm>
          <a:prstGeom prst="rect">
            <a:avLst/>
          </a:prstGeom>
          <a:noFill/>
          <a:ln/>
        </p:spPr>
        <p:txBody>
          <a:bodyPr wrap="square" lIns="0" tIns="0" rIns="0" bIns="0" rtlCol="0" anchor="ctr"/>
          <a:lstStyle/>
          <a:p>
            <a:pPr algn="ctr" indent="0" marL="0">
              <a:buNone/>
            </a:pPr>
            <a:r>
              <a:rPr lang="en-US" sz="1500" b="1" dirty="0">
                <a:solidFill>
                  <a:srgbClr val="13211A"/>
                </a:solidFill>
                <a:latin typeface="Montserrat" pitchFamily="34" charset="0"/>
                <a:ea typeface="Montserrat" pitchFamily="34" charset="-122"/>
                <a:cs typeface="Montserrat" pitchFamily="34" charset="-120"/>
              </a:rPr>
              <a:t>Australia</a:t>
            </a:r>
            <a:endParaRPr lang="en-US" sz="1500" dirty="0"/>
          </a:p>
        </p:txBody>
      </p:sp>
      <p:sp>
        <p:nvSpPr>
          <p:cNvPr id="20" name="Text 14"/>
          <p:cNvSpPr/>
          <p:nvPr/>
        </p:nvSpPr>
        <p:spPr>
          <a:xfrm>
            <a:off x="822960" y="3520440"/>
            <a:ext cx="7498080" cy="731520"/>
          </a:xfrm>
          <a:prstGeom prst="rect">
            <a:avLst/>
          </a:prstGeom>
          <a:noFill/>
          <a:ln/>
        </p:spPr>
        <p:txBody>
          <a:bodyPr wrap="square" lIns="0" tIns="0" rIns="0" bIns="0" rtlCol="0" anchor="ctr"/>
          <a:lstStyle/>
          <a:p>
            <a:pPr indent="0" marL="0">
              <a:lnSpc>
                <a:spcPct val="130000"/>
              </a:lnSpc>
              <a:buNone/>
            </a:pPr>
            <a:r>
              <a:rPr lang="en-US" sz="1300" dirty="0">
                <a:solidFill>
                  <a:srgbClr val="5C6F66"/>
                </a:solidFill>
                <a:latin typeface="Montserrat" pitchFamily="34" charset="0"/>
                <a:ea typeface="Montserrat" pitchFamily="34" charset="-122"/>
                <a:cs typeface="Montserrat" pitchFamily="34" charset="-120"/>
              </a:rPr>
              <a:t>We contract and deliver in the UAE through EDM Technical Services L.L.C. The delivered track record behind this team was built in the UK and Ireland, and it is why our supervision and inspection regime look the way they do. We mobilise into a market only when we can hold the same standard there.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WHO WE WORK WITH</a:t>
            </a:r>
            <a:endParaRPr lang="en-US" sz="1100" dirty="0"/>
          </a:p>
        </p:txBody>
      </p:sp>
      <p:sp>
        <p:nvSpPr>
          <p:cNvPr id="3" name="Text 1"/>
          <p:cNvSpPr/>
          <p:nvPr/>
        </p:nvSpPr>
        <p:spPr>
          <a:xfrm>
            <a:off x="822960" y="1005840"/>
            <a:ext cx="7772400" cy="548640"/>
          </a:xfrm>
          <a:prstGeom prst="rect">
            <a:avLst/>
          </a:prstGeom>
          <a:noFill/>
          <a:ln/>
        </p:spPr>
        <p:txBody>
          <a:bodyPr wrap="square" lIns="0" tIns="0" rIns="0" bIns="0" rtlCol="0" anchor="ctr"/>
          <a:lstStyle/>
          <a:p>
            <a:pPr indent="0" marL="0">
              <a:buNone/>
            </a:pPr>
            <a:r>
              <a:rPr lang="en-US" sz="2500" b="1" dirty="0">
                <a:solidFill>
                  <a:srgbClr val="13211A"/>
                </a:solidFill>
                <a:latin typeface="Montserrat" pitchFamily="34" charset="0"/>
                <a:ea typeface="Montserrat" pitchFamily="34" charset="-122"/>
                <a:cs typeface="Montserrat" pitchFamily="34" charset="-120"/>
              </a:rPr>
              <a:t>A package partner to Tier-1 contractors</a:t>
            </a:r>
            <a:endParaRPr lang="en-US" sz="2500" dirty="0"/>
          </a:p>
        </p:txBody>
      </p:sp>
      <p:sp>
        <p:nvSpPr>
          <p:cNvPr id="4" name="Text 2"/>
          <p:cNvSpPr/>
          <p:nvPr/>
        </p:nvSpPr>
        <p:spPr>
          <a:xfrm>
            <a:off x="822960" y="1627632"/>
            <a:ext cx="7498080" cy="365760"/>
          </a:xfrm>
          <a:prstGeom prst="rect">
            <a:avLst/>
          </a:prstGeom>
          <a:noFill/>
          <a:ln/>
        </p:spPr>
        <p:txBody>
          <a:bodyPr wrap="square" lIns="0" tIns="0" rIns="0" bIns="0" rtlCol="0" anchor="ctr"/>
          <a:lstStyle/>
          <a:p>
            <a:pPr indent="0" marL="0">
              <a:buNone/>
            </a:pPr>
            <a:r>
              <a:rPr lang="en-US" sz="1400" dirty="0">
                <a:solidFill>
                  <a:srgbClr val="5C6F66"/>
                </a:solidFill>
                <a:latin typeface="Montserrat" pitchFamily="34" charset="0"/>
                <a:ea typeface="Montserrat" pitchFamily="34" charset="-122"/>
                <a:cs typeface="Montserrat" pitchFamily="34" charset="-120"/>
              </a:rPr>
              <a:t>We work as a specialist interior package partner to leading main contractors, including:</a:t>
            </a:r>
            <a:endParaRPr lang="en-US" sz="1400" dirty="0"/>
          </a:p>
        </p:txBody>
      </p:sp>
      <p:sp>
        <p:nvSpPr>
          <p:cNvPr id="5" name="Shape 3"/>
          <p:cNvSpPr/>
          <p:nvPr/>
        </p:nvSpPr>
        <p:spPr>
          <a:xfrm>
            <a:off x="822960" y="2331720"/>
            <a:ext cx="1417320" cy="1234440"/>
          </a:xfrm>
          <a:prstGeom prst="roundRect">
            <a:avLst>
              <a:gd name="adj" fmla="val 4444"/>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6" name="Shape 4"/>
          <p:cNvSpPr/>
          <p:nvPr/>
        </p:nvSpPr>
        <p:spPr>
          <a:xfrm>
            <a:off x="1275588" y="2551176"/>
            <a:ext cx="512064" cy="512064"/>
          </a:xfrm>
          <a:prstGeom prst="ellipse">
            <a:avLst/>
          </a:prstGeom>
          <a:solidFill>
            <a:srgbClr val="083819"/>
          </a:solidFill>
          <a:ln/>
        </p:spPr>
      </p:sp>
      <p:pic>
        <p:nvPicPr>
          <p:cNvPr id="7" name="Image 0" descr="preencoded.png">    </p:cNvPr>
          <p:cNvPicPr>
            <a:picLocks noChangeAspect="1"/>
          </p:cNvPicPr>
          <p:nvPr/>
        </p:nvPicPr>
        <p:blipFill>
          <a:blip r:embed="rId1"/>
          <a:stretch>
            <a:fillRect/>
          </a:stretch>
        </p:blipFill>
        <p:spPr>
          <a:xfrm>
            <a:off x="1413845" y="2689433"/>
            <a:ext cx="235549" cy="235549"/>
          </a:xfrm>
          <a:prstGeom prst="rect">
            <a:avLst/>
          </a:prstGeom>
        </p:spPr>
      </p:pic>
      <p:sp>
        <p:nvSpPr>
          <p:cNvPr id="8" name="Text 5"/>
          <p:cNvSpPr/>
          <p:nvPr/>
        </p:nvSpPr>
        <p:spPr>
          <a:xfrm>
            <a:off x="896112" y="3118104"/>
            <a:ext cx="1271016" cy="411480"/>
          </a:xfrm>
          <a:prstGeom prst="rect">
            <a:avLst/>
          </a:prstGeom>
          <a:noFill/>
          <a:ln/>
        </p:spPr>
        <p:txBody>
          <a:bodyPr wrap="square" lIns="0" tIns="0" rIns="0" bIns="0" rtlCol="0" anchor="ctr"/>
          <a:lstStyle/>
          <a:p>
            <a:pPr algn="ctr" indent="0" marL="0">
              <a:lnSpc>
                <a:spcPct val="100000"/>
              </a:lnSpc>
              <a:buNone/>
            </a:pPr>
            <a:r>
              <a:rPr lang="en-US" sz="1150" b="1" dirty="0">
                <a:solidFill>
                  <a:srgbClr val="13211A"/>
                </a:solidFill>
                <a:latin typeface="Montserrat" pitchFamily="34" charset="0"/>
                <a:ea typeface="Montserrat" pitchFamily="34" charset="-122"/>
                <a:cs typeface="Montserrat" pitchFamily="34" charset="-120"/>
              </a:rPr>
              <a:t>Gilbert-Ash</a:t>
            </a:r>
            <a:endParaRPr lang="en-US" sz="1150" dirty="0"/>
          </a:p>
        </p:txBody>
      </p:sp>
      <p:sp>
        <p:nvSpPr>
          <p:cNvPr id="9" name="Shape 6"/>
          <p:cNvSpPr/>
          <p:nvPr/>
        </p:nvSpPr>
        <p:spPr>
          <a:xfrm>
            <a:off x="2359152" y="2331720"/>
            <a:ext cx="1417320" cy="1234440"/>
          </a:xfrm>
          <a:prstGeom prst="roundRect">
            <a:avLst>
              <a:gd name="adj" fmla="val 4444"/>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0" name="Shape 7"/>
          <p:cNvSpPr/>
          <p:nvPr/>
        </p:nvSpPr>
        <p:spPr>
          <a:xfrm>
            <a:off x="2811780" y="2551176"/>
            <a:ext cx="512064" cy="512064"/>
          </a:xfrm>
          <a:prstGeom prst="ellipse">
            <a:avLst/>
          </a:prstGeom>
          <a:solidFill>
            <a:srgbClr val="083819"/>
          </a:solidFill>
          <a:ln/>
        </p:spPr>
      </p:sp>
      <p:pic>
        <p:nvPicPr>
          <p:cNvPr id="11" name="Image 1" descr="preencoded.png">    </p:cNvPr>
          <p:cNvPicPr>
            <a:picLocks noChangeAspect="1"/>
          </p:cNvPicPr>
          <p:nvPr/>
        </p:nvPicPr>
        <p:blipFill>
          <a:blip r:embed="rId2"/>
          <a:stretch>
            <a:fillRect/>
          </a:stretch>
        </p:blipFill>
        <p:spPr>
          <a:xfrm>
            <a:off x="2950037" y="2689433"/>
            <a:ext cx="235549" cy="235549"/>
          </a:xfrm>
          <a:prstGeom prst="rect">
            <a:avLst/>
          </a:prstGeom>
        </p:spPr>
      </p:pic>
      <p:sp>
        <p:nvSpPr>
          <p:cNvPr id="12" name="Text 8"/>
          <p:cNvSpPr/>
          <p:nvPr/>
        </p:nvSpPr>
        <p:spPr>
          <a:xfrm>
            <a:off x="2432304" y="3118104"/>
            <a:ext cx="1271016" cy="411480"/>
          </a:xfrm>
          <a:prstGeom prst="rect">
            <a:avLst/>
          </a:prstGeom>
          <a:noFill/>
          <a:ln/>
        </p:spPr>
        <p:txBody>
          <a:bodyPr wrap="square" lIns="0" tIns="0" rIns="0" bIns="0" rtlCol="0" anchor="ctr"/>
          <a:lstStyle/>
          <a:p>
            <a:pPr algn="ctr" indent="0" marL="0">
              <a:lnSpc>
                <a:spcPct val="100000"/>
              </a:lnSpc>
              <a:buNone/>
            </a:pPr>
            <a:r>
              <a:rPr lang="en-US" sz="1150" b="1" dirty="0">
                <a:solidFill>
                  <a:srgbClr val="13211A"/>
                </a:solidFill>
                <a:latin typeface="Montserrat" pitchFamily="34" charset="0"/>
                <a:ea typeface="Montserrat" pitchFamily="34" charset="-122"/>
                <a:cs typeface="Montserrat" pitchFamily="34" charset="-120"/>
              </a:rPr>
              <a:t>Graham</a:t>
            </a:r>
            <a:endParaRPr lang="en-US" sz="1150" dirty="0"/>
          </a:p>
        </p:txBody>
      </p:sp>
      <p:sp>
        <p:nvSpPr>
          <p:cNvPr id="13" name="Shape 9"/>
          <p:cNvSpPr/>
          <p:nvPr/>
        </p:nvSpPr>
        <p:spPr>
          <a:xfrm>
            <a:off x="3895344" y="2331720"/>
            <a:ext cx="1417320" cy="1234440"/>
          </a:xfrm>
          <a:prstGeom prst="roundRect">
            <a:avLst>
              <a:gd name="adj" fmla="val 4444"/>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4" name="Shape 10"/>
          <p:cNvSpPr/>
          <p:nvPr/>
        </p:nvSpPr>
        <p:spPr>
          <a:xfrm>
            <a:off x="4347972" y="2551176"/>
            <a:ext cx="512064" cy="512064"/>
          </a:xfrm>
          <a:prstGeom prst="ellipse">
            <a:avLst/>
          </a:prstGeom>
          <a:solidFill>
            <a:srgbClr val="083819"/>
          </a:solidFill>
          <a:ln/>
        </p:spPr>
      </p:sp>
      <p:pic>
        <p:nvPicPr>
          <p:cNvPr id="15" name="Image 2" descr="preencoded.png">    </p:cNvPr>
          <p:cNvPicPr>
            <a:picLocks noChangeAspect="1"/>
          </p:cNvPicPr>
          <p:nvPr/>
        </p:nvPicPr>
        <p:blipFill>
          <a:blip r:embed="rId3"/>
          <a:stretch>
            <a:fillRect/>
          </a:stretch>
        </p:blipFill>
        <p:spPr>
          <a:xfrm>
            <a:off x="4486229" y="2689433"/>
            <a:ext cx="235549" cy="235549"/>
          </a:xfrm>
          <a:prstGeom prst="rect">
            <a:avLst/>
          </a:prstGeom>
        </p:spPr>
      </p:pic>
      <p:sp>
        <p:nvSpPr>
          <p:cNvPr id="16" name="Text 11"/>
          <p:cNvSpPr/>
          <p:nvPr/>
        </p:nvSpPr>
        <p:spPr>
          <a:xfrm>
            <a:off x="3968496" y="3118104"/>
            <a:ext cx="1271016" cy="411480"/>
          </a:xfrm>
          <a:prstGeom prst="rect">
            <a:avLst/>
          </a:prstGeom>
          <a:noFill/>
          <a:ln/>
        </p:spPr>
        <p:txBody>
          <a:bodyPr wrap="square" lIns="0" tIns="0" rIns="0" bIns="0" rtlCol="0" anchor="ctr"/>
          <a:lstStyle/>
          <a:p>
            <a:pPr algn="ctr" indent="0" marL="0">
              <a:lnSpc>
                <a:spcPct val="100000"/>
              </a:lnSpc>
              <a:buNone/>
            </a:pPr>
            <a:r>
              <a:rPr lang="en-US" sz="1150" b="1" dirty="0">
                <a:solidFill>
                  <a:srgbClr val="13211A"/>
                </a:solidFill>
                <a:latin typeface="Montserrat" pitchFamily="34" charset="0"/>
                <a:ea typeface="Montserrat" pitchFamily="34" charset="-122"/>
                <a:cs typeface="Montserrat" pitchFamily="34" charset="-120"/>
              </a:rPr>
              <a:t>John Sisk &amp; Son</a:t>
            </a:r>
            <a:endParaRPr lang="en-US" sz="1150" dirty="0"/>
          </a:p>
        </p:txBody>
      </p:sp>
      <p:sp>
        <p:nvSpPr>
          <p:cNvPr id="17" name="Shape 12"/>
          <p:cNvSpPr/>
          <p:nvPr/>
        </p:nvSpPr>
        <p:spPr>
          <a:xfrm>
            <a:off x="5431536" y="2331720"/>
            <a:ext cx="1417320" cy="1234440"/>
          </a:xfrm>
          <a:prstGeom prst="roundRect">
            <a:avLst>
              <a:gd name="adj" fmla="val 4444"/>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8" name="Shape 13"/>
          <p:cNvSpPr/>
          <p:nvPr/>
        </p:nvSpPr>
        <p:spPr>
          <a:xfrm>
            <a:off x="5884164" y="2551176"/>
            <a:ext cx="512064" cy="512064"/>
          </a:xfrm>
          <a:prstGeom prst="ellipse">
            <a:avLst/>
          </a:prstGeom>
          <a:solidFill>
            <a:srgbClr val="083819"/>
          </a:solidFill>
          <a:ln/>
        </p:spPr>
      </p:sp>
      <p:pic>
        <p:nvPicPr>
          <p:cNvPr id="19" name="Image 3" descr="preencoded.png">    </p:cNvPr>
          <p:cNvPicPr>
            <a:picLocks noChangeAspect="1"/>
          </p:cNvPicPr>
          <p:nvPr/>
        </p:nvPicPr>
        <p:blipFill>
          <a:blip r:embed="rId4"/>
          <a:stretch>
            <a:fillRect/>
          </a:stretch>
        </p:blipFill>
        <p:spPr>
          <a:xfrm>
            <a:off x="6022421" y="2689433"/>
            <a:ext cx="235549" cy="235549"/>
          </a:xfrm>
          <a:prstGeom prst="rect">
            <a:avLst/>
          </a:prstGeom>
        </p:spPr>
      </p:pic>
      <p:sp>
        <p:nvSpPr>
          <p:cNvPr id="20" name="Text 14"/>
          <p:cNvSpPr/>
          <p:nvPr/>
        </p:nvSpPr>
        <p:spPr>
          <a:xfrm>
            <a:off x="5504688" y="3118104"/>
            <a:ext cx="1271016" cy="411480"/>
          </a:xfrm>
          <a:prstGeom prst="rect">
            <a:avLst/>
          </a:prstGeom>
          <a:noFill/>
          <a:ln/>
        </p:spPr>
        <p:txBody>
          <a:bodyPr wrap="square" lIns="0" tIns="0" rIns="0" bIns="0" rtlCol="0" anchor="ctr"/>
          <a:lstStyle/>
          <a:p>
            <a:pPr algn="ctr" indent="0" marL="0">
              <a:lnSpc>
                <a:spcPct val="100000"/>
              </a:lnSpc>
              <a:buNone/>
            </a:pPr>
            <a:r>
              <a:rPr lang="en-US" sz="1150" b="1" dirty="0">
                <a:solidFill>
                  <a:srgbClr val="13211A"/>
                </a:solidFill>
                <a:latin typeface="Montserrat" pitchFamily="34" charset="0"/>
                <a:ea typeface="Montserrat" pitchFamily="34" charset="-122"/>
                <a:cs typeface="Montserrat" pitchFamily="34" charset="-120"/>
              </a:rPr>
              <a:t>McLaughlin &amp; Harvey</a:t>
            </a:r>
            <a:endParaRPr lang="en-US" sz="1150" dirty="0"/>
          </a:p>
        </p:txBody>
      </p:sp>
      <p:sp>
        <p:nvSpPr>
          <p:cNvPr id="21" name="Shape 15"/>
          <p:cNvSpPr/>
          <p:nvPr/>
        </p:nvSpPr>
        <p:spPr>
          <a:xfrm>
            <a:off x="6967728" y="2331720"/>
            <a:ext cx="1417320" cy="1234440"/>
          </a:xfrm>
          <a:prstGeom prst="roundRect">
            <a:avLst>
              <a:gd name="adj" fmla="val 4444"/>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22" name="Shape 16"/>
          <p:cNvSpPr/>
          <p:nvPr/>
        </p:nvSpPr>
        <p:spPr>
          <a:xfrm>
            <a:off x="7420356" y="2551176"/>
            <a:ext cx="512064" cy="512064"/>
          </a:xfrm>
          <a:prstGeom prst="ellipse">
            <a:avLst/>
          </a:prstGeom>
          <a:solidFill>
            <a:srgbClr val="083819"/>
          </a:solidFill>
          <a:ln/>
        </p:spPr>
      </p:sp>
      <p:pic>
        <p:nvPicPr>
          <p:cNvPr id="23" name="Image 4" descr="preencoded.png">    </p:cNvPr>
          <p:cNvPicPr>
            <a:picLocks noChangeAspect="1"/>
          </p:cNvPicPr>
          <p:nvPr/>
        </p:nvPicPr>
        <p:blipFill>
          <a:blip r:embed="rId5"/>
          <a:stretch>
            <a:fillRect/>
          </a:stretch>
        </p:blipFill>
        <p:spPr>
          <a:xfrm>
            <a:off x="7558613" y="2689433"/>
            <a:ext cx="235549" cy="235549"/>
          </a:xfrm>
          <a:prstGeom prst="rect">
            <a:avLst/>
          </a:prstGeom>
        </p:spPr>
      </p:pic>
      <p:sp>
        <p:nvSpPr>
          <p:cNvPr id="24" name="Text 17"/>
          <p:cNvSpPr/>
          <p:nvPr/>
        </p:nvSpPr>
        <p:spPr>
          <a:xfrm>
            <a:off x="7040880" y="3118104"/>
            <a:ext cx="1271016" cy="411480"/>
          </a:xfrm>
          <a:prstGeom prst="rect">
            <a:avLst/>
          </a:prstGeom>
          <a:noFill/>
          <a:ln/>
        </p:spPr>
        <p:txBody>
          <a:bodyPr wrap="square" lIns="0" tIns="0" rIns="0" bIns="0" rtlCol="0" anchor="ctr"/>
          <a:lstStyle/>
          <a:p>
            <a:pPr algn="ctr" indent="0" marL="0">
              <a:lnSpc>
                <a:spcPct val="100000"/>
              </a:lnSpc>
              <a:buNone/>
            </a:pPr>
            <a:r>
              <a:rPr lang="en-US" sz="1150" b="1" dirty="0">
                <a:solidFill>
                  <a:srgbClr val="13211A"/>
                </a:solidFill>
                <a:latin typeface="Montserrat" pitchFamily="34" charset="0"/>
                <a:ea typeface="Montserrat" pitchFamily="34" charset="-122"/>
                <a:cs typeface="Montserrat" pitchFamily="34" charset="-120"/>
              </a:rPr>
              <a:t>Farrans</a:t>
            </a:r>
            <a:endParaRPr lang="en-US" sz="1150" dirty="0"/>
          </a:p>
        </p:txBody>
      </p:sp>
      <p:sp>
        <p:nvSpPr>
          <p:cNvPr id="25" name="Text 18"/>
          <p:cNvSpPr/>
          <p:nvPr/>
        </p:nvSpPr>
        <p:spPr>
          <a:xfrm>
            <a:off x="822960" y="3840480"/>
            <a:ext cx="7498080" cy="365760"/>
          </a:xfrm>
          <a:prstGeom prst="rect">
            <a:avLst/>
          </a:prstGeom>
          <a:noFill/>
          <a:ln/>
        </p:spPr>
        <p:txBody>
          <a:bodyPr wrap="square" lIns="0" tIns="0" rIns="0" bIns="0" rtlCol="0" anchor="ctr"/>
          <a:lstStyle/>
          <a:p>
            <a:pPr indent="0" marL="0">
              <a:buNone/>
            </a:pPr>
            <a:r>
              <a:rPr lang="en-US" sz="1100" i="1" dirty="0">
                <a:solidFill>
                  <a:srgbClr val="7C8181"/>
                </a:solidFill>
                <a:latin typeface="Montserrat" pitchFamily="34" charset="0"/>
                <a:ea typeface="Montserrat" pitchFamily="34" charset="-122"/>
                <a:cs typeface="Montserrat" pitchFamily="34" charset="-120"/>
              </a:rPr>
              <a:t>References available on request, package-by-package, for prequalification.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WHY WE STAY ON THE LIST</a:t>
            </a:r>
            <a:endParaRPr lang="en-US" sz="1100" dirty="0"/>
          </a:p>
        </p:txBody>
      </p:sp>
      <p:sp>
        <p:nvSpPr>
          <p:cNvPr id="3" name="Text 1"/>
          <p:cNvSpPr/>
          <p:nvPr/>
        </p:nvSpPr>
        <p:spPr>
          <a:xfrm>
            <a:off x="822960" y="841248"/>
            <a:ext cx="7498080" cy="50292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What main contractors get</a:t>
            </a:r>
            <a:endParaRPr lang="en-US" sz="2600" dirty="0"/>
          </a:p>
        </p:txBody>
      </p:sp>
      <p:sp>
        <p:nvSpPr>
          <p:cNvPr id="4" name="Shape 2"/>
          <p:cNvSpPr/>
          <p:nvPr/>
        </p:nvSpPr>
        <p:spPr>
          <a:xfrm>
            <a:off x="868680" y="1481328"/>
            <a:ext cx="475488" cy="475488"/>
          </a:xfrm>
          <a:prstGeom prst="ellipse">
            <a:avLst/>
          </a:prstGeom>
          <a:solidFill>
            <a:srgbClr val="083819"/>
          </a:solidFill>
          <a:ln/>
        </p:spPr>
      </p:sp>
      <p:pic>
        <p:nvPicPr>
          <p:cNvPr id="5" name="Image 0" descr="preencoded.png">    </p:cNvPr>
          <p:cNvPicPr>
            <a:picLocks noChangeAspect="1"/>
          </p:cNvPicPr>
          <p:nvPr/>
        </p:nvPicPr>
        <p:blipFill>
          <a:blip r:embed="rId1"/>
          <a:stretch>
            <a:fillRect/>
          </a:stretch>
        </p:blipFill>
        <p:spPr>
          <a:xfrm>
            <a:off x="997062" y="1609710"/>
            <a:ext cx="218724" cy="218724"/>
          </a:xfrm>
          <a:prstGeom prst="rect">
            <a:avLst/>
          </a:prstGeom>
        </p:spPr>
      </p:pic>
      <p:sp>
        <p:nvSpPr>
          <p:cNvPr id="6" name="Text 3"/>
          <p:cNvSpPr/>
          <p:nvPr/>
        </p:nvSpPr>
        <p:spPr>
          <a:xfrm>
            <a:off x="1508760" y="1463040"/>
            <a:ext cx="2743200" cy="502920"/>
          </a:xfrm>
          <a:prstGeom prst="rect">
            <a:avLst/>
          </a:prstGeom>
          <a:noFill/>
          <a:ln/>
        </p:spPr>
        <p:txBody>
          <a:bodyPr wrap="square" lIns="0" tIns="0" rIns="0" bIns="0" rtlCol="0" anchor="ctr"/>
          <a:lstStyle/>
          <a:p>
            <a:pPr indent="0" marL="0">
              <a:buNone/>
            </a:pPr>
            <a:r>
              <a:rPr lang="en-US" sz="1350" b="1" dirty="0">
                <a:solidFill>
                  <a:srgbClr val="13211A"/>
                </a:solidFill>
                <a:latin typeface="Montserrat" pitchFamily="34" charset="0"/>
                <a:ea typeface="Montserrat" pitchFamily="34" charset="-122"/>
                <a:cs typeface="Montserrat" pitchFamily="34" charset="-120"/>
              </a:rPr>
              <a:t>One point of responsibility</a:t>
            </a:r>
            <a:endParaRPr lang="en-US" sz="1350" dirty="0"/>
          </a:p>
        </p:txBody>
      </p:sp>
      <p:sp>
        <p:nvSpPr>
          <p:cNvPr id="7" name="Text 4"/>
          <p:cNvSpPr/>
          <p:nvPr/>
        </p:nvSpPr>
        <p:spPr>
          <a:xfrm>
            <a:off x="4343400" y="1463040"/>
            <a:ext cx="3977640" cy="548640"/>
          </a:xfrm>
          <a:prstGeom prst="rect">
            <a:avLst/>
          </a:prstGeom>
          <a:noFill/>
          <a:ln/>
        </p:spPr>
        <p:txBody>
          <a:bodyPr wrap="square" lIns="0" tIns="0" rIns="0" bIns="0" rtlCol="0" anchor="ctr"/>
          <a:lstStyle/>
          <a:p>
            <a:pPr indent="0" marL="0">
              <a:lnSpc>
                <a:spcPct val="112000"/>
              </a:lnSpc>
              <a:buNone/>
            </a:pPr>
            <a:r>
              <a:rPr lang="en-US" sz="1150" dirty="0">
                <a:solidFill>
                  <a:srgbClr val="5C6F66"/>
                </a:solidFill>
                <a:latin typeface="Montserrat" pitchFamily="34" charset="0"/>
                <a:ea typeface="Montserrat" pitchFamily="34" charset="-122"/>
                <a:cs typeface="Montserrat" pitchFamily="34" charset="-120"/>
              </a:rPr>
              <a:t>One company owns the interior from first wall to final snag — no blame-shifting.</a:t>
            </a:r>
            <a:endParaRPr lang="en-US" sz="1150" dirty="0"/>
          </a:p>
        </p:txBody>
      </p:sp>
      <p:sp>
        <p:nvSpPr>
          <p:cNvPr id="8" name="Shape 5"/>
          <p:cNvSpPr/>
          <p:nvPr/>
        </p:nvSpPr>
        <p:spPr>
          <a:xfrm>
            <a:off x="868680" y="2130552"/>
            <a:ext cx="475488" cy="475488"/>
          </a:xfrm>
          <a:prstGeom prst="ellipse">
            <a:avLst/>
          </a:prstGeom>
          <a:solidFill>
            <a:srgbClr val="083819"/>
          </a:solidFill>
          <a:ln/>
        </p:spPr>
      </p:sp>
      <p:pic>
        <p:nvPicPr>
          <p:cNvPr id="9" name="Image 1" descr="preencoded.png">    </p:cNvPr>
          <p:cNvPicPr>
            <a:picLocks noChangeAspect="1"/>
          </p:cNvPicPr>
          <p:nvPr/>
        </p:nvPicPr>
        <p:blipFill>
          <a:blip r:embed="rId2"/>
          <a:stretch>
            <a:fillRect/>
          </a:stretch>
        </p:blipFill>
        <p:spPr>
          <a:xfrm>
            <a:off x="997062" y="2258934"/>
            <a:ext cx="218724" cy="218724"/>
          </a:xfrm>
          <a:prstGeom prst="rect">
            <a:avLst/>
          </a:prstGeom>
        </p:spPr>
      </p:pic>
      <p:sp>
        <p:nvSpPr>
          <p:cNvPr id="10" name="Text 6"/>
          <p:cNvSpPr/>
          <p:nvPr/>
        </p:nvSpPr>
        <p:spPr>
          <a:xfrm>
            <a:off x="1508760" y="2112264"/>
            <a:ext cx="2743200" cy="502920"/>
          </a:xfrm>
          <a:prstGeom prst="rect">
            <a:avLst/>
          </a:prstGeom>
          <a:noFill/>
          <a:ln/>
        </p:spPr>
        <p:txBody>
          <a:bodyPr wrap="square" lIns="0" tIns="0" rIns="0" bIns="0" rtlCol="0" anchor="ctr"/>
          <a:lstStyle/>
          <a:p>
            <a:pPr indent="0" marL="0">
              <a:buNone/>
            </a:pPr>
            <a:r>
              <a:rPr lang="en-US" sz="1350" b="1" dirty="0">
                <a:solidFill>
                  <a:srgbClr val="13211A"/>
                </a:solidFill>
                <a:latin typeface="Montserrat" pitchFamily="34" charset="0"/>
                <a:ea typeface="Montserrat" pitchFamily="34" charset="-122"/>
                <a:cs typeface="Montserrat" pitchFamily="34" charset="-120"/>
              </a:rPr>
              <a:t>Self-performed, start to finish</a:t>
            </a:r>
            <a:endParaRPr lang="en-US" sz="1350" dirty="0"/>
          </a:p>
        </p:txBody>
      </p:sp>
      <p:sp>
        <p:nvSpPr>
          <p:cNvPr id="11" name="Text 7"/>
          <p:cNvSpPr/>
          <p:nvPr/>
        </p:nvSpPr>
        <p:spPr>
          <a:xfrm>
            <a:off x="4343400" y="2112264"/>
            <a:ext cx="3977640" cy="548640"/>
          </a:xfrm>
          <a:prstGeom prst="rect">
            <a:avLst/>
          </a:prstGeom>
          <a:noFill/>
          <a:ln/>
        </p:spPr>
        <p:txBody>
          <a:bodyPr wrap="square" lIns="0" tIns="0" rIns="0" bIns="0" rtlCol="0" anchor="ctr"/>
          <a:lstStyle/>
          <a:p>
            <a:pPr indent="0" marL="0">
              <a:lnSpc>
                <a:spcPct val="112000"/>
              </a:lnSpc>
              <a:buNone/>
            </a:pPr>
            <a:r>
              <a:rPr lang="en-US" sz="1150" dirty="0">
                <a:solidFill>
                  <a:srgbClr val="5C6F66"/>
                </a:solidFill>
                <a:latin typeface="Montserrat" pitchFamily="34" charset="0"/>
                <a:ea typeface="Montserrat" pitchFamily="34" charset="-122"/>
                <a:cs typeface="Montserrat" pitchFamily="34" charset="-120"/>
              </a:rPr>
              <a:t>Directly employed labour, so the standard doesn't change hands mid-package.</a:t>
            </a:r>
            <a:endParaRPr lang="en-US" sz="1150" dirty="0"/>
          </a:p>
        </p:txBody>
      </p:sp>
      <p:sp>
        <p:nvSpPr>
          <p:cNvPr id="12" name="Shape 8"/>
          <p:cNvSpPr/>
          <p:nvPr/>
        </p:nvSpPr>
        <p:spPr>
          <a:xfrm>
            <a:off x="868680" y="2779776"/>
            <a:ext cx="475488" cy="475488"/>
          </a:xfrm>
          <a:prstGeom prst="ellipse">
            <a:avLst/>
          </a:prstGeom>
          <a:solidFill>
            <a:srgbClr val="083819"/>
          </a:solidFill>
          <a:ln/>
        </p:spPr>
      </p:sp>
      <p:pic>
        <p:nvPicPr>
          <p:cNvPr id="13" name="Image 2" descr="preencoded.png">    </p:cNvPr>
          <p:cNvPicPr>
            <a:picLocks noChangeAspect="1"/>
          </p:cNvPicPr>
          <p:nvPr/>
        </p:nvPicPr>
        <p:blipFill>
          <a:blip r:embed="rId3"/>
          <a:stretch>
            <a:fillRect/>
          </a:stretch>
        </p:blipFill>
        <p:spPr>
          <a:xfrm>
            <a:off x="997062" y="2908158"/>
            <a:ext cx="218724" cy="218724"/>
          </a:xfrm>
          <a:prstGeom prst="rect">
            <a:avLst/>
          </a:prstGeom>
        </p:spPr>
      </p:pic>
      <p:sp>
        <p:nvSpPr>
          <p:cNvPr id="14" name="Text 9"/>
          <p:cNvSpPr/>
          <p:nvPr/>
        </p:nvSpPr>
        <p:spPr>
          <a:xfrm>
            <a:off x="1508760" y="2761488"/>
            <a:ext cx="2743200" cy="502920"/>
          </a:xfrm>
          <a:prstGeom prst="rect">
            <a:avLst/>
          </a:prstGeom>
          <a:noFill/>
          <a:ln/>
        </p:spPr>
        <p:txBody>
          <a:bodyPr wrap="square" lIns="0" tIns="0" rIns="0" bIns="0" rtlCol="0" anchor="ctr"/>
          <a:lstStyle/>
          <a:p>
            <a:pPr indent="0" marL="0">
              <a:buNone/>
            </a:pPr>
            <a:r>
              <a:rPr lang="en-US" sz="1350" b="1" dirty="0">
                <a:solidFill>
                  <a:srgbClr val="13211A"/>
                </a:solidFill>
                <a:latin typeface="Montserrat" pitchFamily="34" charset="0"/>
                <a:ea typeface="Montserrat" pitchFamily="34" charset="-122"/>
                <a:cs typeface="Montserrat" pitchFamily="34" charset="-120"/>
              </a:rPr>
              <a:t>Programme certainty</a:t>
            </a:r>
            <a:endParaRPr lang="en-US" sz="1350" dirty="0"/>
          </a:p>
        </p:txBody>
      </p:sp>
      <p:sp>
        <p:nvSpPr>
          <p:cNvPr id="15" name="Text 10"/>
          <p:cNvSpPr/>
          <p:nvPr/>
        </p:nvSpPr>
        <p:spPr>
          <a:xfrm>
            <a:off x="4343400" y="2761488"/>
            <a:ext cx="3977640" cy="548640"/>
          </a:xfrm>
          <a:prstGeom prst="rect">
            <a:avLst/>
          </a:prstGeom>
          <a:noFill/>
          <a:ln/>
        </p:spPr>
        <p:txBody>
          <a:bodyPr wrap="square" lIns="0" tIns="0" rIns="0" bIns="0" rtlCol="0" anchor="ctr"/>
          <a:lstStyle/>
          <a:p>
            <a:pPr indent="0" marL="0">
              <a:lnSpc>
                <a:spcPct val="112000"/>
              </a:lnSpc>
              <a:buNone/>
            </a:pPr>
            <a:r>
              <a:rPr lang="en-US" sz="1150" dirty="0">
                <a:solidFill>
                  <a:srgbClr val="5C6F66"/>
                </a:solidFill>
                <a:latin typeface="Montserrat" pitchFamily="34" charset="0"/>
                <a:ea typeface="Montserrat" pitchFamily="34" charset="-122"/>
                <a:cs typeface="Montserrat" pitchFamily="34" charset="-120"/>
              </a:rPr>
              <a:t>We plan and sequence to your dates, flag risk early, and hold the line on the date that matters.</a:t>
            </a:r>
            <a:endParaRPr lang="en-US" sz="1150" dirty="0"/>
          </a:p>
        </p:txBody>
      </p:sp>
      <p:sp>
        <p:nvSpPr>
          <p:cNvPr id="16" name="Shape 11"/>
          <p:cNvSpPr/>
          <p:nvPr/>
        </p:nvSpPr>
        <p:spPr>
          <a:xfrm>
            <a:off x="868680" y="3429000"/>
            <a:ext cx="475488" cy="475488"/>
          </a:xfrm>
          <a:prstGeom prst="ellipse">
            <a:avLst/>
          </a:prstGeom>
          <a:solidFill>
            <a:srgbClr val="083819"/>
          </a:solidFill>
          <a:ln/>
        </p:spPr>
      </p:sp>
      <p:pic>
        <p:nvPicPr>
          <p:cNvPr id="17" name="Image 3" descr="preencoded.png">    </p:cNvPr>
          <p:cNvPicPr>
            <a:picLocks noChangeAspect="1"/>
          </p:cNvPicPr>
          <p:nvPr/>
        </p:nvPicPr>
        <p:blipFill>
          <a:blip r:embed="rId4"/>
          <a:stretch>
            <a:fillRect/>
          </a:stretch>
        </p:blipFill>
        <p:spPr>
          <a:xfrm>
            <a:off x="997062" y="3557382"/>
            <a:ext cx="218724" cy="218724"/>
          </a:xfrm>
          <a:prstGeom prst="rect">
            <a:avLst/>
          </a:prstGeom>
        </p:spPr>
      </p:pic>
      <p:sp>
        <p:nvSpPr>
          <p:cNvPr id="18" name="Text 12"/>
          <p:cNvSpPr/>
          <p:nvPr/>
        </p:nvSpPr>
        <p:spPr>
          <a:xfrm>
            <a:off x="1508760" y="3410712"/>
            <a:ext cx="2743200" cy="502920"/>
          </a:xfrm>
          <a:prstGeom prst="rect">
            <a:avLst/>
          </a:prstGeom>
          <a:noFill/>
          <a:ln/>
        </p:spPr>
        <p:txBody>
          <a:bodyPr wrap="square" lIns="0" tIns="0" rIns="0" bIns="0" rtlCol="0" anchor="ctr"/>
          <a:lstStyle/>
          <a:p>
            <a:pPr indent="0" marL="0">
              <a:buNone/>
            </a:pPr>
            <a:r>
              <a:rPr lang="en-US" sz="1350" b="1" dirty="0">
                <a:solidFill>
                  <a:srgbClr val="13211A"/>
                </a:solidFill>
                <a:latin typeface="Montserrat" pitchFamily="34" charset="0"/>
                <a:ea typeface="Montserrat" pitchFamily="34" charset="-122"/>
                <a:cs typeface="Montserrat" pitchFamily="34" charset="-120"/>
              </a:rPr>
              <a:t>Built to a tested detail</a:t>
            </a:r>
            <a:endParaRPr lang="en-US" sz="1350" dirty="0"/>
          </a:p>
        </p:txBody>
      </p:sp>
      <p:sp>
        <p:nvSpPr>
          <p:cNvPr id="19" name="Text 13"/>
          <p:cNvSpPr/>
          <p:nvPr/>
        </p:nvSpPr>
        <p:spPr>
          <a:xfrm>
            <a:off x="4343400" y="3410712"/>
            <a:ext cx="3977640" cy="548640"/>
          </a:xfrm>
          <a:prstGeom prst="rect">
            <a:avLst/>
          </a:prstGeom>
          <a:noFill/>
          <a:ln/>
        </p:spPr>
        <p:txBody>
          <a:bodyPr wrap="square" lIns="0" tIns="0" rIns="0" bIns="0" rtlCol="0" anchor="ctr"/>
          <a:lstStyle/>
          <a:p>
            <a:pPr indent="0" marL="0">
              <a:lnSpc>
                <a:spcPct val="112000"/>
              </a:lnSpc>
              <a:buNone/>
            </a:pPr>
            <a:r>
              <a:rPr lang="en-US" sz="1150" dirty="0">
                <a:solidFill>
                  <a:srgbClr val="5C6F66"/>
                </a:solidFill>
                <a:latin typeface="Montserrat" pitchFamily="34" charset="0"/>
                <a:ea typeface="Montserrat" pitchFamily="34" charset="-122"/>
                <a:cs typeface="Montserrat" pitchFamily="34" charset="-120"/>
              </a:rPr>
              <a:t>Fire and acoustic systems built to the certified detail and documented for inspection.</a:t>
            </a:r>
            <a:endParaRPr lang="en-US" sz="1150" dirty="0"/>
          </a:p>
        </p:txBody>
      </p:sp>
      <p:sp>
        <p:nvSpPr>
          <p:cNvPr id="20" name="Shape 14"/>
          <p:cNvSpPr/>
          <p:nvPr/>
        </p:nvSpPr>
        <p:spPr>
          <a:xfrm>
            <a:off x="868680" y="4078224"/>
            <a:ext cx="475488" cy="475488"/>
          </a:xfrm>
          <a:prstGeom prst="ellipse">
            <a:avLst/>
          </a:prstGeom>
          <a:solidFill>
            <a:srgbClr val="083819"/>
          </a:solidFill>
          <a:ln/>
        </p:spPr>
      </p:sp>
      <p:pic>
        <p:nvPicPr>
          <p:cNvPr id="21" name="Image 4" descr="preencoded.png">    </p:cNvPr>
          <p:cNvPicPr>
            <a:picLocks noChangeAspect="1"/>
          </p:cNvPicPr>
          <p:nvPr/>
        </p:nvPicPr>
        <p:blipFill>
          <a:blip r:embed="rId5"/>
          <a:stretch>
            <a:fillRect/>
          </a:stretch>
        </p:blipFill>
        <p:spPr>
          <a:xfrm>
            <a:off x="997062" y="4206606"/>
            <a:ext cx="218724" cy="218724"/>
          </a:xfrm>
          <a:prstGeom prst="rect">
            <a:avLst/>
          </a:prstGeom>
        </p:spPr>
      </p:pic>
      <p:sp>
        <p:nvSpPr>
          <p:cNvPr id="22" name="Text 15"/>
          <p:cNvSpPr/>
          <p:nvPr/>
        </p:nvSpPr>
        <p:spPr>
          <a:xfrm>
            <a:off x="1508760" y="4059936"/>
            <a:ext cx="2743200" cy="502920"/>
          </a:xfrm>
          <a:prstGeom prst="rect">
            <a:avLst/>
          </a:prstGeom>
          <a:noFill/>
          <a:ln/>
        </p:spPr>
        <p:txBody>
          <a:bodyPr wrap="square" lIns="0" tIns="0" rIns="0" bIns="0" rtlCol="0" anchor="ctr"/>
          <a:lstStyle/>
          <a:p>
            <a:pPr indent="0" marL="0">
              <a:buNone/>
            </a:pPr>
            <a:r>
              <a:rPr lang="en-US" sz="1350" b="1" dirty="0">
                <a:solidFill>
                  <a:srgbClr val="13211A"/>
                </a:solidFill>
                <a:latin typeface="Montserrat" pitchFamily="34" charset="0"/>
                <a:ea typeface="Montserrat" pitchFamily="34" charset="-122"/>
                <a:cs typeface="Montserrat" pitchFamily="34" charset="-120"/>
              </a:rPr>
              <a:t>A real person answers</a:t>
            </a:r>
            <a:endParaRPr lang="en-US" sz="1350" dirty="0"/>
          </a:p>
        </p:txBody>
      </p:sp>
      <p:sp>
        <p:nvSpPr>
          <p:cNvPr id="23" name="Text 16"/>
          <p:cNvSpPr/>
          <p:nvPr/>
        </p:nvSpPr>
        <p:spPr>
          <a:xfrm>
            <a:off x="4343400" y="4059936"/>
            <a:ext cx="3977640" cy="548640"/>
          </a:xfrm>
          <a:prstGeom prst="rect">
            <a:avLst/>
          </a:prstGeom>
          <a:noFill/>
          <a:ln/>
        </p:spPr>
        <p:txBody>
          <a:bodyPr wrap="square" lIns="0" tIns="0" rIns="0" bIns="0" rtlCol="0" anchor="ctr"/>
          <a:lstStyle/>
          <a:p>
            <a:pPr indent="0" marL="0">
              <a:lnSpc>
                <a:spcPct val="112000"/>
              </a:lnSpc>
              <a:buNone/>
            </a:pPr>
            <a:r>
              <a:rPr lang="en-US" sz="1150" dirty="0">
                <a:solidFill>
                  <a:srgbClr val="5C6F66"/>
                </a:solidFill>
                <a:latin typeface="Montserrat" pitchFamily="34" charset="0"/>
                <a:ea typeface="Montserrat" pitchFamily="34" charset="-122"/>
                <a:cs typeface="Montserrat" pitchFamily="34" charset="-120"/>
              </a:rPr>
              <a:t>Priced honestly off the drawings, and a straight answer the same working day.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100" b="1" spc="300" kern="0" dirty="0">
                <a:solidFill>
                  <a:srgbClr val="083819"/>
                </a:solidFill>
                <a:latin typeface="Montserrat" pitchFamily="34" charset="0"/>
                <a:ea typeface="Montserrat" pitchFamily="34" charset="-122"/>
                <a:cs typeface="Montserrat" pitchFamily="34" charset="-120"/>
              </a:rPr>
              <a:t>THE PEOPLE ACCOUNTABLE</a:t>
            </a:r>
            <a:endParaRPr lang="en-US" sz="1100" dirty="0"/>
          </a:p>
        </p:txBody>
      </p:sp>
      <p:sp>
        <p:nvSpPr>
          <p:cNvPr id="3" name="Text 1"/>
          <p:cNvSpPr/>
          <p:nvPr/>
        </p:nvSpPr>
        <p:spPr>
          <a:xfrm>
            <a:off x="822960" y="1005840"/>
            <a:ext cx="7498080" cy="548640"/>
          </a:xfrm>
          <a:prstGeom prst="rect">
            <a:avLst/>
          </a:prstGeom>
          <a:noFill/>
          <a:ln/>
        </p:spPr>
        <p:txBody>
          <a:bodyPr wrap="square" lIns="0" tIns="0" rIns="0" bIns="0" rtlCol="0" anchor="ctr"/>
          <a:lstStyle/>
          <a:p>
            <a:pPr indent="0" marL="0">
              <a:buNone/>
            </a:pPr>
            <a:r>
              <a:rPr lang="en-US" sz="2600" b="1" dirty="0">
                <a:solidFill>
                  <a:srgbClr val="13211A"/>
                </a:solidFill>
                <a:latin typeface="Montserrat" pitchFamily="34" charset="0"/>
                <a:ea typeface="Montserrat" pitchFamily="34" charset="-122"/>
                <a:cs typeface="Montserrat" pitchFamily="34" charset="-120"/>
              </a:rPr>
              <a:t>Leadership</a:t>
            </a:r>
            <a:endParaRPr lang="en-US" sz="2600" dirty="0"/>
          </a:p>
        </p:txBody>
      </p:sp>
      <p:sp>
        <p:nvSpPr>
          <p:cNvPr id="4" name="Shape 2"/>
          <p:cNvSpPr/>
          <p:nvPr/>
        </p:nvSpPr>
        <p:spPr>
          <a:xfrm>
            <a:off x="822960" y="1828800"/>
            <a:ext cx="1801368" cy="1783080"/>
          </a:xfrm>
          <a:prstGeom prst="roundRect">
            <a:avLst>
              <a:gd name="adj" fmla="val 3077"/>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1312164" y="2084832"/>
            <a:ext cx="822960" cy="822960"/>
          </a:xfrm>
          <a:prstGeom prst="ellipse">
            <a:avLst/>
          </a:prstGeom>
          <a:solidFill>
            <a:srgbClr val="083819"/>
          </a:solidFill>
          <a:ln/>
        </p:spPr>
      </p:sp>
      <p:sp>
        <p:nvSpPr>
          <p:cNvPr id="6" name="Text 4"/>
          <p:cNvSpPr/>
          <p:nvPr/>
        </p:nvSpPr>
        <p:spPr>
          <a:xfrm>
            <a:off x="1312164" y="2084832"/>
            <a:ext cx="822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ED</a:t>
            </a:r>
            <a:endParaRPr lang="en-US" sz="1900" dirty="0"/>
          </a:p>
        </p:txBody>
      </p:sp>
      <p:sp>
        <p:nvSpPr>
          <p:cNvPr id="7" name="Text 5"/>
          <p:cNvSpPr/>
          <p:nvPr/>
        </p:nvSpPr>
        <p:spPr>
          <a:xfrm>
            <a:off x="896112" y="2999232"/>
            <a:ext cx="1655064" cy="320040"/>
          </a:xfrm>
          <a:prstGeom prst="rect">
            <a:avLst/>
          </a:prstGeom>
          <a:noFill/>
          <a:ln/>
        </p:spPr>
        <p:txBody>
          <a:bodyPr wrap="square" lIns="0" tIns="0" rIns="0" bIns="0" rtlCol="0" anchor="ctr"/>
          <a:lstStyle/>
          <a:p>
            <a:pPr algn="ctr" indent="0" marL="0">
              <a:buNone/>
            </a:pPr>
            <a:r>
              <a:rPr lang="en-US" sz="1300" b="1" dirty="0">
                <a:solidFill>
                  <a:srgbClr val="13211A"/>
                </a:solidFill>
                <a:latin typeface="Montserrat" pitchFamily="34" charset="0"/>
                <a:ea typeface="Montserrat" pitchFamily="34" charset="-122"/>
                <a:cs typeface="Montserrat" pitchFamily="34" charset="-120"/>
              </a:rPr>
              <a:t>Eddie Duffy</a:t>
            </a:r>
            <a:endParaRPr lang="en-US" sz="1300" dirty="0"/>
          </a:p>
        </p:txBody>
      </p:sp>
      <p:sp>
        <p:nvSpPr>
          <p:cNvPr id="8" name="Text 6"/>
          <p:cNvSpPr/>
          <p:nvPr/>
        </p:nvSpPr>
        <p:spPr>
          <a:xfrm>
            <a:off x="896112" y="3291840"/>
            <a:ext cx="1655064" cy="292608"/>
          </a:xfrm>
          <a:prstGeom prst="rect">
            <a:avLst/>
          </a:prstGeom>
          <a:noFill/>
          <a:ln/>
        </p:spPr>
        <p:txBody>
          <a:bodyPr wrap="square" lIns="0" tIns="0" rIns="0" bIns="0" rtlCol="0" anchor="ctr"/>
          <a:lstStyle/>
          <a:p>
            <a:pPr algn="ctr" indent="0" marL="0">
              <a:buNone/>
            </a:pPr>
            <a:r>
              <a:rPr lang="en-US" sz="1050" dirty="0">
                <a:solidFill>
                  <a:srgbClr val="5C6F66"/>
                </a:solidFill>
                <a:latin typeface="Montserrat" pitchFamily="34" charset="0"/>
                <a:ea typeface="Montserrat" pitchFamily="34" charset="-122"/>
                <a:cs typeface="Montserrat" pitchFamily="34" charset="-120"/>
              </a:rPr>
              <a:t>Chairman</a:t>
            </a:r>
            <a:endParaRPr lang="en-US" sz="1050" dirty="0"/>
          </a:p>
        </p:txBody>
      </p:sp>
      <p:sp>
        <p:nvSpPr>
          <p:cNvPr id="9" name="Shape 7"/>
          <p:cNvSpPr/>
          <p:nvPr/>
        </p:nvSpPr>
        <p:spPr>
          <a:xfrm>
            <a:off x="2752344" y="1828800"/>
            <a:ext cx="1801368" cy="1783080"/>
          </a:xfrm>
          <a:prstGeom prst="roundRect">
            <a:avLst>
              <a:gd name="adj" fmla="val 3077"/>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0" name="Shape 8"/>
          <p:cNvSpPr/>
          <p:nvPr/>
        </p:nvSpPr>
        <p:spPr>
          <a:xfrm>
            <a:off x="3241548" y="2084832"/>
            <a:ext cx="822960" cy="822960"/>
          </a:xfrm>
          <a:prstGeom prst="ellipse">
            <a:avLst/>
          </a:prstGeom>
          <a:solidFill>
            <a:srgbClr val="083819"/>
          </a:solidFill>
          <a:ln/>
        </p:spPr>
      </p:sp>
      <p:sp>
        <p:nvSpPr>
          <p:cNvPr id="11" name="Text 9"/>
          <p:cNvSpPr/>
          <p:nvPr/>
        </p:nvSpPr>
        <p:spPr>
          <a:xfrm>
            <a:off x="3241548" y="2084832"/>
            <a:ext cx="822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DM</a:t>
            </a:r>
            <a:endParaRPr lang="en-US" sz="1900" dirty="0"/>
          </a:p>
        </p:txBody>
      </p:sp>
      <p:sp>
        <p:nvSpPr>
          <p:cNvPr id="12" name="Text 10"/>
          <p:cNvSpPr/>
          <p:nvPr/>
        </p:nvSpPr>
        <p:spPr>
          <a:xfrm>
            <a:off x="2825496" y="2999232"/>
            <a:ext cx="1655064" cy="320040"/>
          </a:xfrm>
          <a:prstGeom prst="rect">
            <a:avLst/>
          </a:prstGeom>
          <a:noFill/>
          <a:ln/>
        </p:spPr>
        <p:txBody>
          <a:bodyPr wrap="square" lIns="0" tIns="0" rIns="0" bIns="0" rtlCol="0" anchor="ctr"/>
          <a:lstStyle/>
          <a:p>
            <a:pPr algn="ctr" indent="0" marL="0">
              <a:buNone/>
            </a:pPr>
            <a:r>
              <a:rPr lang="en-US" sz="1300" b="1" dirty="0">
                <a:solidFill>
                  <a:srgbClr val="13211A"/>
                </a:solidFill>
                <a:latin typeface="Montserrat" pitchFamily="34" charset="0"/>
                <a:ea typeface="Montserrat" pitchFamily="34" charset="-122"/>
                <a:cs typeface="Montserrat" pitchFamily="34" charset="-120"/>
              </a:rPr>
              <a:t>Damien Meenan</a:t>
            </a:r>
            <a:endParaRPr lang="en-US" sz="1300" dirty="0"/>
          </a:p>
        </p:txBody>
      </p:sp>
      <p:sp>
        <p:nvSpPr>
          <p:cNvPr id="13" name="Text 11"/>
          <p:cNvSpPr/>
          <p:nvPr/>
        </p:nvSpPr>
        <p:spPr>
          <a:xfrm>
            <a:off x="2825496" y="3291840"/>
            <a:ext cx="1655064" cy="292608"/>
          </a:xfrm>
          <a:prstGeom prst="rect">
            <a:avLst/>
          </a:prstGeom>
          <a:noFill/>
          <a:ln/>
        </p:spPr>
        <p:txBody>
          <a:bodyPr wrap="square" lIns="0" tIns="0" rIns="0" bIns="0" rtlCol="0" anchor="ctr"/>
          <a:lstStyle/>
          <a:p>
            <a:pPr algn="ctr" indent="0" marL="0">
              <a:buNone/>
            </a:pPr>
            <a:r>
              <a:rPr lang="en-US" sz="1050" dirty="0">
                <a:solidFill>
                  <a:srgbClr val="5C6F66"/>
                </a:solidFill>
                <a:latin typeface="Montserrat" pitchFamily="34" charset="0"/>
                <a:ea typeface="Montserrat" pitchFamily="34" charset="-122"/>
                <a:cs typeface="Montserrat" pitchFamily="34" charset="-120"/>
              </a:rPr>
              <a:t>Chief Executive Officer</a:t>
            </a:r>
            <a:endParaRPr lang="en-US" sz="1050" dirty="0"/>
          </a:p>
        </p:txBody>
      </p:sp>
      <p:sp>
        <p:nvSpPr>
          <p:cNvPr id="14" name="Shape 12"/>
          <p:cNvSpPr/>
          <p:nvPr/>
        </p:nvSpPr>
        <p:spPr>
          <a:xfrm>
            <a:off x="4681728" y="1828800"/>
            <a:ext cx="1801368" cy="1783080"/>
          </a:xfrm>
          <a:prstGeom prst="roundRect">
            <a:avLst>
              <a:gd name="adj" fmla="val 3077"/>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15" name="Shape 13"/>
          <p:cNvSpPr/>
          <p:nvPr/>
        </p:nvSpPr>
        <p:spPr>
          <a:xfrm>
            <a:off x="5170932" y="2084832"/>
            <a:ext cx="822960" cy="822960"/>
          </a:xfrm>
          <a:prstGeom prst="ellipse">
            <a:avLst/>
          </a:prstGeom>
          <a:solidFill>
            <a:srgbClr val="083819"/>
          </a:solidFill>
          <a:ln/>
        </p:spPr>
      </p:sp>
      <p:sp>
        <p:nvSpPr>
          <p:cNvPr id="16" name="Text 14"/>
          <p:cNvSpPr/>
          <p:nvPr/>
        </p:nvSpPr>
        <p:spPr>
          <a:xfrm>
            <a:off x="5170932" y="2084832"/>
            <a:ext cx="822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CS</a:t>
            </a:r>
            <a:endParaRPr lang="en-US" sz="1900" dirty="0"/>
          </a:p>
        </p:txBody>
      </p:sp>
      <p:sp>
        <p:nvSpPr>
          <p:cNvPr id="17" name="Text 15"/>
          <p:cNvSpPr/>
          <p:nvPr/>
        </p:nvSpPr>
        <p:spPr>
          <a:xfrm>
            <a:off x="4754880" y="2999232"/>
            <a:ext cx="1655064" cy="320040"/>
          </a:xfrm>
          <a:prstGeom prst="rect">
            <a:avLst/>
          </a:prstGeom>
          <a:noFill/>
          <a:ln/>
        </p:spPr>
        <p:txBody>
          <a:bodyPr wrap="square" lIns="0" tIns="0" rIns="0" bIns="0" rtlCol="0" anchor="ctr"/>
          <a:lstStyle/>
          <a:p>
            <a:pPr algn="ctr" indent="0" marL="0">
              <a:buNone/>
            </a:pPr>
            <a:r>
              <a:rPr lang="en-US" sz="1300" b="1" dirty="0">
                <a:solidFill>
                  <a:srgbClr val="13211A"/>
                </a:solidFill>
                <a:latin typeface="Montserrat" pitchFamily="34" charset="0"/>
                <a:ea typeface="Montserrat" pitchFamily="34" charset="-122"/>
                <a:cs typeface="Montserrat" pitchFamily="34" charset="-120"/>
              </a:rPr>
              <a:t>Christopher Simon</a:t>
            </a:r>
            <a:endParaRPr lang="en-US" sz="1300" dirty="0"/>
          </a:p>
        </p:txBody>
      </p:sp>
      <p:sp>
        <p:nvSpPr>
          <p:cNvPr id="18" name="Text 16"/>
          <p:cNvSpPr/>
          <p:nvPr/>
        </p:nvSpPr>
        <p:spPr>
          <a:xfrm>
            <a:off x="4754880" y="3291840"/>
            <a:ext cx="1655064" cy="292608"/>
          </a:xfrm>
          <a:prstGeom prst="rect">
            <a:avLst/>
          </a:prstGeom>
          <a:noFill/>
          <a:ln/>
        </p:spPr>
        <p:txBody>
          <a:bodyPr wrap="square" lIns="0" tIns="0" rIns="0" bIns="0" rtlCol="0" anchor="ctr"/>
          <a:lstStyle/>
          <a:p>
            <a:pPr algn="ctr" indent="0" marL="0">
              <a:buNone/>
            </a:pPr>
            <a:r>
              <a:rPr lang="en-US" sz="1050" dirty="0">
                <a:solidFill>
                  <a:srgbClr val="5C6F66"/>
                </a:solidFill>
                <a:latin typeface="Montserrat" pitchFamily="34" charset="0"/>
                <a:ea typeface="Montserrat" pitchFamily="34" charset="-122"/>
                <a:cs typeface="Montserrat" pitchFamily="34" charset="-120"/>
              </a:rPr>
              <a:t>Chief Operating Officer</a:t>
            </a:r>
            <a:endParaRPr lang="en-US" sz="1050" dirty="0"/>
          </a:p>
        </p:txBody>
      </p:sp>
      <p:sp>
        <p:nvSpPr>
          <p:cNvPr id="19" name="Shape 17"/>
          <p:cNvSpPr/>
          <p:nvPr/>
        </p:nvSpPr>
        <p:spPr>
          <a:xfrm>
            <a:off x="6611112" y="1828800"/>
            <a:ext cx="1801368" cy="1783080"/>
          </a:xfrm>
          <a:prstGeom prst="roundRect">
            <a:avLst>
              <a:gd name="adj" fmla="val 3077"/>
            </a:avLst>
          </a:prstGeom>
          <a:solidFill>
            <a:srgbClr val="FFFFFF"/>
          </a:solidFill>
          <a:ln w="12700">
            <a:solidFill>
              <a:srgbClr val="E4E6E0"/>
            </a:solidFill>
            <a:prstDash val="solid"/>
          </a:ln>
          <a:effectLst>
            <a:outerShdw sx="100000" sy="100000" kx="0" ky="0" algn="bl" rotWithShape="0" blurRad="114300" dist="38100" dir="5400000">
              <a:srgbClr val="000000">
                <a:alpha val="10000"/>
              </a:srgbClr>
            </a:outerShdw>
          </a:effectLst>
        </p:spPr>
      </p:sp>
      <p:sp>
        <p:nvSpPr>
          <p:cNvPr id="20" name="Shape 18"/>
          <p:cNvSpPr/>
          <p:nvPr/>
        </p:nvSpPr>
        <p:spPr>
          <a:xfrm>
            <a:off x="7100316" y="2084832"/>
            <a:ext cx="822960" cy="822960"/>
          </a:xfrm>
          <a:prstGeom prst="ellipse">
            <a:avLst/>
          </a:prstGeom>
          <a:solidFill>
            <a:srgbClr val="083819"/>
          </a:solidFill>
          <a:ln/>
        </p:spPr>
      </p:sp>
      <p:sp>
        <p:nvSpPr>
          <p:cNvPr id="21" name="Text 19"/>
          <p:cNvSpPr/>
          <p:nvPr/>
        </p:nvSpPr>
        <p:spPr>
          <a:xfrm>
            <a:off x="7100316" y="2084832"/>
            <a:ext cx="822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KB</a:t>
            </a:r>
            <a:endParaRPr lang="en-US" sz="1900" dirty="0"/>
          </a:p>
        </p:txBody>
      </p:sp>
      <p:sp>
        <p:nvSpPr>
          <p:cNvPr id="22" name="Text 20"/>
          <p:cNvSpPr/>
          <p:nvPr/>
        </p:nvSpPr>
        <p:spPr>
          <a:xfrm>
            <a:off x="6684264" y="2999232"/>
            <a:ext cx="1655064" cy="320040"/>
          </a:xfrm>
          <a:prstGeom prst="rect">
            <a:avLst/>
          </a:prstGeom>
          <a:noFill/>
          <a:ln/>
        </p:spPr>
        <p:txBody>
          <a:bodyPr wrap="square" lIns="0" tIns="0" rIns="0" bIns="0" rtlCol="0" anchor="ctr"/>
          <a:lstStyle/>
          <a:p>
            <a:pPr algn="ctr" indent="0" marL="0">
              <a:buNone/>
            </a:pPr>
            <a:r>
              <a:rPr lang="en-US" sz="1300" b="1" dirty="0">
                <a:solidFill>
                  <a:srgbClr val="13211A"/>
                </a:solidFill>
                <a:latin typeface="Montserrat" pitchFamily="34" charset="0"/>
                <a:ea typeface="Montserrat" pitchFamily="34" charset="-122"/>
                <a:cs typeface="Montserrat" pitchFamily="34" charset="-120"/>
              </a:rPr>
              <a:t>Kenny Buchanan</a:t>
            </a:r>
            <a:endParaRPr lang="en-US" sz="1300" dirty="0"/>
          </a:p>
        </p:txBody>
      </p:sp>
      <p:sp>
        <p:nvSpPr>
          <p:cNvPr id="23" name="Text 21"/>
          <p:cNvSpPr/>
          <p:nvPr/>
        </p:nvSpPr>
        <p:spPr>
          <a:xfrm>
            <a:off x="6684264" y="3291840"/>
            <a:ext cx="1655064" cy="292608"/>
          </a:xfrm>
          <a:prstGeom prst="rect">
            <a:avLst/>
          </a:prstGeom>
          <a:noFill/>
          <a:ln/>
        </p:spPr>
        <p:txBody>
          <a:bodyPr wrap="square" lIns="0" tIns="0" rIns="0" bIns="0" rtlCol="0" anchor="ctr"/>
          <a:lstStyle/>
          <a:p>
            <a:pPr algn="ctr" indent="0" marL="0">
              <a:buNone/>
            </a:pPr>
            <a:r>
              <a:rPr lang="en-US" sz="1050" dirty="0">
                <a:solidFill>
                  <a:srgbClr val="5C6F66"/>
                </a:solidFill>
                <a:latin typeface="Montserrat" pitchFamily="34" charset="0"/>
                <a:ea typeface="Montserrat" pitchFamily="34" charset="-122"/>
                <a:cs typeface="Montserrat" pitchFamily="34" charset="-120"/>
              </a:rPr>
              <a:t>Project Director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554480"/>
            <a:ext cx="7498080" cy="731520"/>
          </a:xfrm>
          <a:prstGeom prst="rect">
            <a:avLst/>
          </a:prstGeom>
          <a:noFill/>
          <a:ln/>
        </p:spPr>
        <p:txBody>
          <a:bodyPr wrap="square" lIns="0" tIns="0" rIns="0" bIns="0" rtlCol="0" anchor="ctr"/>
          <a:lstStyle/>
          <a:p>
            <a:pPr indent="0" marL="0">
              <a:buNone/>
            </a:pPr>
            <a:r>
              <a:rPr lang="en-US" sz="3200" b="1" dirty="0">
                <a:solidFill>
                  <a:srgbClr val="13211A"/>
                </a:solidFill>
                <a:latin typeface="Montserrat" pitchFamily="34" charset="0"/>
                <a:ea typeface="Montserrat" pitchFamily="34" charset="-122"/>
                <a:cs typeface="Montserrat" pitchFamily="34" charset="-120"/>
              </a:rPr>
              <a:t>Send us the drawings and the programme.</a:t>
            </a:r>
            <a:endParaRPr lang="en-US" sz="3200" dirty="0"/>
          </a:p>
        </p:txBody>
      </p:sp>
      <p:sp>
        <p:nvSpPr>
          <p:cNvPr id="3" name="Text 1"/>
          <p:cNvSpPr/>
          <p:nvPr/>
        </p:nvSpPr>
        <p:spPr>
          <a:xfrm>
            <a:off x="822960" y="2377440"/>
            <a:ext cx="7223760" cy="731520"/>
          </a:xfrm>
          <a:prstGeom prst="rect">
            <a:avLst/>
          </a:prstGeom>
          <a:noFill/>
          <a:ln/>
        </p:spPr>
        <p:txBody>
          <a:bodyPr wrap="square" lIns="0" tIns="0" rIns="0" bIns="0" rtlCol="0" anchor="ctr"/>
          <a:lstStyle/>
          <a:p>
            <a:pPr indent="0" marL="0">
              <a:lnSpc>
                <a:spcPct val="125000"/>
              </a:lnSpc>
              <a:buNone/>
            </a:pPr>
            <a:r>
              <a:rPr lang="en-US" sz="1500" dirty="0">
                <a:solidFill>
                  <a:srgbClr val="5C6F66"/>
                </a:solidFill>
                <a:latin typeface="Montserrat" pitchFamily="34" charset="0"/>
                <a:ea typeface="Montserrat" pitchFamily="34" charset="-122"/>
                <a:cs typeface="Montserrat" pitchFamily="34" charset="-120"/>
              </a:rPr>
              <a:t>A real person answers, the same working day. You'll get a straight answer and an honest price, not a brochure.</a:t>
            </a:r>
            <a:endParaRPr lang="en-US" sz="1500" dirty="0"/>
          </a:p>
        </p:txBody>
      </p:sp>
      <p:sp>
        <p:nvSpPr>
          <p:cNvPr id="4" name="Shape 2"/>
          <p:cNvSpPr/>
          <p:nvPr/>
        </p:nvSpPr>
        <p:spPr>
          <a:xfrm>
            <a:off x="868680" y="3383280"/>
            <a:ext cx="7406640" cy="0"/>
          </a:xfrm>
          <a:prstGeom prst="line">
            <a:avLst/>
          </a:prstGeom>
          <a:noFill/>
          <a:ln w="12700">
            <a:solidFill>
              <a:srgbClr val="E4E6E0"/>
            </a:solidFill>
            <a:prstDash val="solid"/>
          </a:ln>
        </p:spPr>
      </p:sp>
      <p:sp>
        <p:nvSpPr>
          <p:cNvPr id="5" name="Text 3"/>
          <p:cNvSpPr/>
          <p:nvPr/>
        </p:nvSpPr>
        <p:spPr>
          <a:xfrm>
            <a:off x="841248" y="3611880"/>
            <a:ext cx="7589520" cy="365760"/>
          </a:xfrm>
          <a:prstGeom prst="rect">
            <a:avLst/>
          </a:prstGeom>
          <a:noFill/>
          <a:ln/>
        </p:spPr>
        <p:txBody>
          <a:bodyPr wrap="square" lIns="0" tIns="0" rIns="0" bIns="0" rtlCol="0" anchor="ctr"/>
          <a:lstStyle/>
          <a:p>
            <a:pPr indent="0" marL="0">
              <a:buNone/>
            </a:pPr>
            <a:r>
              <a:rPr lang="en-US" sz="1300" b="1" dirty="0">
                <a:solidFill>
                  <a:srgbClr val="083819"/>
                </a:solidFill>
                <a:latin typeface="Montserrat" pitchFamily="34" charset="0"/>
                <a:ea typeface="Montserrat" pitchFamily="34" charset="-122"/>
                <a:cs typeface="Montserrat" pitchFamily="34" charset="-120"/>
              </a:rPr>
              <a:t>enquiries@edmholdings.ae</a:t>
            </a:r>
            <a:pPr indent="0" marL="0">
              <a:buNone/>
            </a:pPr>
            <a:r>
              <a:rPr lang="en-US" sz="1300" dirty="0">
                <a:solidFill>
                  <a:srgbClr val="13211A"/>
                </a:solidFill>
                <a:latin typeface="Montserrat" pitchFamily="34" charset="0"/>
                <a:ea typeface="Montserrat" pitchFamily="34" charset="-122"/>
                <a:cs typeface="Montserrat" pitchFamily="34" charset="-120"/>
              </a:rPr>
              <a:t>        +971 (0) 58 601 2021        edmholdings.ae</a:t>
            </a:r>
            <a:endParaRPr lang="en-US" sz="1300" dirty="0"/>
          </a:p>
        </p:txBody>
      </p:sp>
      <p:pic>
        <p:nvPicPr>
          <p:cNvPr id="6" name="Image 0" descr="assets/logo_primary.png">    </p:cNvPr>
          <p:cNvPicPr>
            <a:picLocks noChangeAspect="1"/>
          </p:cNvPicPr>
          <p:nvPr/>
        </p:nvPicPr>
        <p:blipFill>
          <a:blip r:embed="rId1"/>
          <a:stretch>
            <a:fillRect/>
          </a:stretch>
        </p:blipFill>
        <p:spPr>
          <a:xfrm>
            <a:off x="822960" y="4114800"/>
            <a:ext cx="2468880" cy="606419"/>
          </a:xfrm>
          <a:prstGeom prst="rect">
            <a:avLst/>
          </a:prstGeom>
        </p:spPr>
      </p:pic>
      <p:sp>
        <p:nvSpPr>
          <p:cNvPr id="7" name="Text 4"/>
          <p:cNvSpPr/>
          <p:nvPr/>
        </p:nvSpPr>
        <p:spPr>
          <a:xfrm>
            <a:off x="4572000" y="4315968"/>
            <a:ext cx="3749040" cy="274320"/>
          </a:xfrm>
          <a:prstGeom prst="rect">
            <a:avLst/>
          </a:prstGeom>
          <a:noFill/>
          <a:ln/>
        </p:spPr>
        <p:txBody>
          <a:bodyPr wrap="square" lIns="0" tIns="0" rIns="0" bIns="0" rtlCol="0" anchor="ctr"/>
          <a:lstStyle/>
          <a:p>
            <a:pPr algn="r" indent="0" marL="0">
              <a:buNone/>
            </a:pPr>
            <a:r>
              <a:rPr lang="en-US" sz="950" spc="150" kern="0" dirty="0">
                <a:solidFill>
                  <a:srgbClr val="5C6F66"/>
                </a:solidFill>
                <a:latin typeface="Montserrat" pitchFamily="34" charset="0"/>
                <a:ea typeface="Montserrat" pitchFamily="34" charset="-122"/>
                <a:cs typeface="Montserrat" pitchFamily="34" charset="-120"/>
              </a:rPr>
              <a:t>DUBAI · UNITED ARAB EMIRATES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EDM Holdings — Capability &amp; Credentials</dc:title>
  <dc:subject>PptxGenJS Presentation</dc:subject>
  <dc:creator>EDM Holdings</dc:creator>
  <cp:lastModifiedBy>EDM Holdings</cp:lastModifiedBy>
  <cp:revision>1</cp:revision>
  <dcterms:created xsi:type="dcterms:W3CDTF">2026-07-02T13:43:52Z</dcterms:created>
  <dcterms:modified xsi:type="dcterms:W3CDTF">2026-07-02T13:43:52Z</dcterms:modified>
</cp:coreProperties>
</file>